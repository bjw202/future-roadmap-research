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64592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55448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기술기획 리서치 보고서  |  2026.03.25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spc="-50" kern="0" dirty="0">
                <a:solidFill>
                  <a:srgbClr val="F8FAF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기술 미래 로드맵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구조 변화와 전략 대응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9445752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41148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4A7BF7"/>
          </a:solidFill>
          <a:ln w="127">
            <a:solidFill>
              <a:srgbClr val="4A7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폴더블/MicroLED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41148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이종금속 용접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41148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자율 공정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57607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기술기획팀  |  2026년 3월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55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배터리·폴더블·AI 자율화 — 3대 시장이 동시에 임계점에 도달한다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3477768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3240024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$3.2B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레이저 용접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96570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3756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이종금속(Al-Cu) 정밀 용접 수요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이후 급성장 국면 진입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7304" y="169164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5592" y="1691640"/>
            <a:ext cx="3477768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474464" y="1874520"/>
            <a:ext cx="3240024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15M+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474464" y="28346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 패널/년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1624" y="3246120"/>
            <a:ext cx="296570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474464" y="333756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폴더블 iPhone 2026 출시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Display 독점 공급 확정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5968" y="169164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4256" y="1691640"/>
            <a:ext cx="3477768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263128" y="1874520"/>
            <a:ext cx="3240024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63128" y="28346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공정 자율화 원년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0288" y="3246120"/>
            <a:ext cx="296570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8263128" y="333756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센서 + AI 피드백루프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공정 실시간 제어 상용화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91672" cy="20574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전략적 함의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6634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EV 배터리 $3.2B 시장은 이종금속 용접 특화 역량이 핵심 — 보유 기술 직결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폴더블 15M+ 패널 수요는 LLO·GLLO·UTG 가공 전 밸류체인에 걸쳐 레이저 장비 수요 폭발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자율화는 기술 자체보다 "센서+데이터+SW" 통합 역량을 보유한 업체가 포지션 선점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36개월 내 3가지 구조 변화가 레이저 산업을 재편한다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폴더블 / MicroLED 수요 폭발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Apple·Samsung·LG 폴더블 확대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전사(Transfer) 정밀도 요구 급상승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LLO·GLLO·레이저 리페어 장비 수요 연동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EV 이종금속 용접 급성장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배터리 탭/버스바 Al-Cu 이종용접 필수화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EV 배터리 용접 시장 $3.2B 이상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고출력 싱글모드 레이저 중심 재편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AI + 센서 융합 자율 공정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비전·분광·OCT 센서 + AI 제어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자동 보정·이상 예지 보전 상용화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장비 기업에서 공정 플랫폼 기업으로 전환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중국 레이저 가격 역습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IPG·레이저라인급 출력 달성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중저가 시장 → 점차 중간급까지 침투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한국 기업 차별화 포인트: 공정 통합 + 수율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55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보유 기술 5개 중 4개가 즉시 확장 가능한 연결점을 가진다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보유 기술  →  확장 방향  →  시장 기회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3969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4A7BF7"/>
          </a:solidFill>
          <a:ln w="127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396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21396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057400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GLLO / MicroLED 전사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194560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2057400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폴더블·MicroLED 장비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8094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809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98094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2898648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 드릴링 / 레이저 수리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3035808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898648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힌지 홀·패널 리페어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94176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82219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22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글라스 가공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382219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3739896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UTG 이중층 가공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3877056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3739896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UTG 커버윈도우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535424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634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6B6B"/>
          </a:solidFill>
          <a:ln w="127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63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06040" y="46634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017520" y="4581144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탭 용접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49440" y="4718304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4581144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팩 용접 $3.2B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376672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50468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 w="127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504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Selective 제거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06040" y="55046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017520" y="5422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디본딩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5559552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Text 37"/>
          <p:cNvSpPr/>
          <p:nvPr/>
        </p:nvSpPr>
        <p:spPr>
          <a:xfrm>
            <a:off x="7086600" y="5422392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패키징 디본딩 $166M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55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224028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현황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0" y="3063240"/>
            <a:ext cx="6153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우리의 기술 자산과 시장 지형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0" y="37490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5대 기술의 현재 적용 영역을 정리하고,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응용 시장 전체 규모와 기회 영역을 파악한다.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5대 보유 기술과 현재 적용 영역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(Laser Lift-Off)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플렉서블 OLED 캐리어 유리 분리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308nm 엑시머 레이저 표준 공정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스마트폰·웨어러블 양산 적용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64592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62272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LILE (선택적 에칭/패터닝)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유도 선택 식각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초정밀 패터닝·홀 가공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디스플레이·반도체 패키징 적용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645920"/>
            <a:ext cx="35387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38744" y="233172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글라스 가공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743200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UTG·커버글라스 정밀 커팅·드릴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스텔스 다이싱·내부 가공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UTG 이중층 확장 가능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Al-Cu·스틸-알루 이종재 용접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중프레임·구조재 양산 적용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탭 용접으로 확장 가능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5112" y="39776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◎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Selective 제거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2272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광흡수 기반 선택적 물질 제거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디본딩 적용 가능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패키징 $166M 시장 연결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1584" y="3977640"/>
            <a:ext cx="3538728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127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411480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강점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84464" y="4480560"/>
            <a:ext cx="3172968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5대 기술 모두 자체 개발 기반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4개 기술이 신시장 직결 확장 가능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이종금속·LLO는 즉시 사업화 가능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응용 시장 규모 총괄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4206240"/>
                <a:gridCol w="2130552"/>
              </a:tblGrid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응용 분야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 / 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당사 연결 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레이저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$3.2B (2026)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이종금속(Al-Cu) 탭·버스바 용접 급성장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USP (초단펄스) 장비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$2.45 ~ 2.76B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항공·의료·반도체 초정밀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LILE, Selective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AM (LPBF/SLM)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$2.56 ~ 3.7B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항공·의료 금속 3D 프린팅 고성장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 용접 기반 확장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장비 (단독)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$150 ~ 255M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 포함 시 $295~610M, 생태계 $1B+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(핵심 보유)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어닐링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$876M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ELA·Green 레이저 양산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연동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디본딩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$166M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패키징 임시 접합 해제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Selective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* 시장 규모 출처: Mordor Intelligence, MarketsandMarkets, IDTechEx (2024~2025). 환율·범위 정의에 따라 수치 차이 발생.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스마트폰/디스플레이: LLO·ELA가 양산 표준, GLLO가 차세대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617720"/>
          </a:xfrm>
          <a:prstGeom prst="roundRect">
            <a:avLst>
              <a:gd name="adj" fmla="val 198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현행 표준 — LLO + 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308nm 엑시머 레이저: 플렉서블 OLED 분리 표준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ELA (Excimer Laser Annealing): 저온폴리실리콘 결정화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성숙기 진입 — 장비 단가 압력 증가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Samsung·BOE·CSOT 전 라인 적용 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당사 LLO 장비: 현재 양산 대응 가능 상태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1645920"/>
            <a:ext cx="5362956" cy="4617720"/>
          </a:xfrm>
          <a:prstGeom prst="roundRect">
            <a:avLst>
              <a:gd name="adj" fmla="val 1980"/>
            </a:avLst>
          </a:prstGeom>
          <a:solidFill>
            <a:srgbClr val="EBF0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737360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차세대 — GLLO (Green LLO)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60236" y="2240280"/>
            <a:ext cx="499719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1676" y="2286000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탄화 발생 92.8% 감소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1676" y="2606040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캐리어 재사용 가능 → 원가 구조 혁신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0236" y="3017520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532nm 그린 레이저 기반 — 엑시머 대비 TCO 우위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0236" y="3584448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폴더블 UTG·초박형 캐리어 가공에 적합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60236" y="4151376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Samsung Display 2025~2026 전환 검토 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0236" y="4718304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당사 현행 LLO → GLLO 업그레이드 경로 존재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TV/가전: LCD 커팅부터 세탁기 드럼 용접까지 양산 표준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64208"/>
            <a:ext cx="54864" cy="8229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LCD 대면적 레이저 커팅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93976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65~85인치 패널 스크라이빙·브레이킹 대체. 기계적 손상 제거, 엣지 품질 향상.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54864" cy="8229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24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OLED TV LLO / ELA 적용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90088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 OLED·Samsung QD-OLED 생산 라인에 LLO·ELA 표준 적용 완료.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56432"/>
            <a:ext cx="54864" cy="8229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세탁기 드럼 레이저 용접 — 22초 사이클타임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스테인리스 드럼 레이저 용접. 기존 TIG 대비 사이클타임 22초, 스패터 제로.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52544"/>
            <a:ext cx="54864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레이저 텍스처링 (접촉각 150° 초발수)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782312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가전 표면 초발수/초발유 처리. 접촉각 150°+ 달성. 코팅 없는 기능성 표면.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4865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E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248656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126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코봇 + 레이저 협동 시스템 확산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678424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6축 로봇 + 레이저 헤드 통합. 가전 곡면부·불규칙 형상 자동 가공 보급 확대.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55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범용 제조: USP 고정밀 가공과 적층 제조가 핵심 성장 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545836" cy="1280160"/>
          </a:xfrm>
          <a:prstGeom prst="roundRect">
            <a:avLst>
              <a:gd name="adj" fmla="val 7143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$2.56~3.7B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8892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AM (LPBF/SLM)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8892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티타늄 SLM 케이스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6레이저 병렬 / 연 400톤 재료 절감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68796" y="1664208"/>
            <a:ext cx="5545836" cy="1280160"/>
          </a:xfrm>
          <a:prstGeom prst="roundRect">
            <a:avLst>
              <a:gd name="adj" fmla="val 7143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609076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DED 항공 리드타임 단축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09076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항공 구조재 복합 가공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주조 → 레이저 DED로 전환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65836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455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USP 유리-금속 접합 (57.7 MPa)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438144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레이저 유리-금속 이종접합. 57.7MPa 인장강도 달성. 광학 어셈블리·의료기기 적용.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31336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67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USP 레이저 시장 $2.45~2.76B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16052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항공·의료·반도체 초정밀 가공 수요. 피코·펨토초 장비 고성장. 당사 LILE 기술 연계 가능.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53712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590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레이저 AM 항공 구조재 대체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4882896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Airbus·Boeing DED 적용 확대. 티타늄·인코넬 대형 부품 90% 리드타임 단축.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276088"/>
            <a:ext cx="54864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312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레이저 + AI 품질 인라인 검사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560527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용융지 모니터링 + ML 피드백. LPBF 공정 내 기공 발생 실시간 억제. 항공 인증 가속.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시장 정의에 따라 규모가 6배 다르다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1E293B"/>
          </a:solidFill>
          <a:ln w="127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"LLO 시장 $255M vs $1.48B" — 혼동 상태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0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리서치사마다 LLO 범위 정의가 다름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$255M: 장비(Tool) 단독 기준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$1.48B: ELA 포함·서비스·소모품 합산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보고서 구매 시 정의 불일치로 과대 기대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경쟁사 비교 시 사과-사과 비교 불가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28232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범위 3단계 구분으로 해소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28232" y="2651760"/>
            <a:ext cx="5029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① 장비 단독: $150 ~ 255M (협의)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② 서비스·소모품 포함: $295 ~ 610M (광의)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③ 생태계 전체(ELA·소재·MRO): $1B+ (초광의)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→ 당사 TAM 계산 시 반드시 "장비 단독" 기준 사용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→ 경쟁사 분석 시 범위 기준 명시 필수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보유 기술 × 시장 기회 매트릭스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즉시 확장 (High × High)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 → 폴더블/GLLO 업그레이드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이종금속 용접 → EV 배터리 $3.2B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글라스 가공 → UTG 폴더블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지금 투자·PoC 우선순위 1순위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4592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중기 육성 (Low × High)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LILE → MicroLED 수리·리페어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Selective 제거 → 반도체 디본딩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3~12개월 내 파트너십·PoC 개시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완성도 확보 후 확장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02336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현금 창출 (High × Low)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LLO·ELA 현행 양산 유지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세탁기·TV 가전 용접 수주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현재 매출 기반 유지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신기술 투자 재원 역할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023360"/>
            <a:ext cx="535838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관망 / 재검토 (Low × Low)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45720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AM (LPBF/SLM) 직접 진출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USP 장비 독자 개발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역량 대비 진입장벽 높음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제휴·OEM 경유 접근 검토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3192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172200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기술 보유 수준 →  낮음  →  높음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1645920"/>
            <a:ext cx="502920" cy="4617720"/>
          </a:xfrm>
          <a:prstGeom prst="rect">
            <a:avLst/>
          </a:prstGeom>
          <a:noFill/>
          <a:ln/>
        </p:spPr>
        <p:txBody>
          <a:bodyPr wrap="square" rtlCol="0" anchor="ctr" vert="eaVer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시장 성장성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B02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2103120"/>
            <a:ext cx="13716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224028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구조 변화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0" y="3063240"/>
            <a:ext cx="6153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스마트폰/디스플레이가 레이저 수요를 폭발시킨다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37490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폴더블 iPhone 2026 출시 확정과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Display 독점 공급이 레이저 수요의 임계점을 만든다.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 폴더블 iPhone 2026 확정 — Samsung Display 독점 공급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600200"/>
            <a:ext cx="12188952" cy="36576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15M+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722876" y="3749040"/>
            <a:ext cx="2743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패널/년 공급 규모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폴더블 iPhone 2026, Samsung Display 독점 공급 확정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▲ 폴더블 침투율 2027년 3%+ 전망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458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5458968"/>
            <a:ext cx="1914144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출시 예정 연도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5733288"/>
            <a:ext cx="1914144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공급망 소식통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복수 확인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7304" y="5440680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4464" y="5458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SDC 독점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00344" y="5458968"/>
            <a:ext cx="1914144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Samsung Display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0344" y="5733288"/>
            <a:ext cx="1914144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UTG + 힌지 패널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독점 공급 확정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25968" y="5440680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3128" y="5458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3%+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89008" y="5458968"/>
            <a:ext cx="1914144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2027년 폴더블 침투율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89008" y="5733288"/>
            <a:ext cx="1914144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스마트폰 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비중 전망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64592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55448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기술기획 리서치 보고서  |  2026.03.25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spc="-50" kern="0" dirty="0">
                <a:solidFill>
                  <a:srgbClr val="F8FAF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기술 미래 로드맵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구조 변화와 전략 대응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9445752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41148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4A7BF7"/>
          </a:solidFill>
          <a:ln w="127">
            <a:solidFill>
              <a:srgbClr val="4A7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폴더블/MicroLED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41148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이종금속 용접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411480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자율 공정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57607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기술기획팀  |  2026년 3월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55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배터리·폴더블·AI 자율화 — 3대 시장이 동시에 임계점에 도달한다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3477768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3240024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$3.2B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레이저 용접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296570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3756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이종금속(Al-Cu) 정밀 용접 수요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이후 급성장 국면 진입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7304" y="169164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5592" y="1691640"/>
            <a:ext cx="3477768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474464" y="1874520"/>
            <a:ext cx="3240024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15M+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474464" y="28346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 패널/년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1624" y="3246120"/>
            <a:ext cx="296570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474464" y="333756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폴더블 iPhone 2026 출시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Display 독점 공급 확정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5968" y="1691640"/>
            <a:ext cx="3514344" cy="2286000"/>
          </a:xfrm>
          <a:prstGeom prst="roundRect">
            <a:avLst>
              <a:gd name="adj" fmla="val 4000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4256" y="1691640"/>
            <a:ext cx="3477768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263128" y="1874520"/>
            <a:ext cx="3240024" cy="9144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2026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63128" y="283464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공정 자율화 원년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0288" y="3246120"/>
            <a:ext cx="296570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8263128" y="3337560"/>
            <a:ext cx="3240024" cy="5486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센서 + AI 피드백루프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공정 실시간 제어 상용화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91672" cy="20574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전략적 함의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6634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EV 배터리 $3.2B 시장은 이종금속 용접 특화 역량이 핵심 — 보유 기술 직결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폴더블 15M+ 패널 수요는 LLO·GLLO·UTG 가공 전 밸류체인에 걸쳐 레이저 장비 수요 폭발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자율화는 기술 자체보다 "센서+데이터+SW" 통합 역량을 보유한 업체가 포지션 선점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36개월 내 3가지 구조 변화가 레이저 산업을 재편한다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폴더블 / MicroLED 수요 폭발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Apple·Samsung·LG 폴더블 확대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전사(Transfer) 정밀도 요구 급상승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LLO·GLLO·레이저 리페어 장비 수요 연동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EV 이종금속 용접 급성장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배터리 탭/버스바 Al-Cu 이종용접 필수화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EV 배터리 용접 시장 $3.2B 이상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고출력 싱글모드 레이저 중심 재편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AI + 센서 융합 자율 공정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비전·분광·OCT 센서 + AI 제어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자동 보정·이상 예지 보전 상용화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장비 기업에서 공정 플랫폼 기업으로 전환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중국 레이저 가격 역습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IPG·레이저라인급 출력 달성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중저가 시장 → 점차 중간급까지 침투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한국 기업 차별화 포인트: 공정 통합 + 수율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55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보유 기술 5개 중 4개가 즉시 확장 가능한 연결점을 가진다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보유 기술  →  확장 방향  →  시장 기회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3969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4A7BF7"/>
          </a:solidFill>
          <a:ln w="127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396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21396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057400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GLLO / MicroLED 전사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194560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2057400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폴더블·MicroLED 장비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8094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0D4AA"/>
          </a:solidFill>
          <a:ln w="127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809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98094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2898648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 드릴링 / 레이저 수리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3035808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898648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힌지 홀·패널 리페어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94176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82219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B020"/>
          </a:solidFill>
          <a:ln w="127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22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글라스 가공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382219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3739896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UTG 이중층 가공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3877056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3739896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UTG 커버윈도우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535424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6634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6B6B"/>
          </a:solidFill>
          <a:ln w="127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63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06040" y="46634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017520" y="4581144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탭 용접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49440" y="4718304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4581144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팩 용접 $3.2B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376672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50468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 w="127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504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Selective 제거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606040" y="55046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017520" y="5422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디본딩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5559552"/>
            <a:ext cx="9144" cy="40233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Text 37"/>
          <p:cNvSpPr/>
          <p:nvPr/>
        </p:nvSpPr>
        <p:spPr>
          <a:xfrm>
            <a:off x="7086600" y="5422392"/>
            <a:ext cx="4434840" cy="676656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패키징 디본딩 $166M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55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224028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현황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0" y="3063240"/>
            <a:ext cx="6153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우리의 기술 자산과 시장 지형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0" y="37490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5대 기술의 현재 적용 영역을 정리하고,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응용 시장 전체 규모와 기회 영역을 파악한다.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5대 보유 기술과 현재 적용 영역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(Laser Lift-Off)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플렉서블 OLED 캐리어 유리 분리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308nm 엑시머 레이저 표준 공정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스마트폰·웨어러블 양산 적용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64592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62272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LILE (선택적 에칭/패터닝)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유도 선택 식각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초정밀 패터닝·홀 가공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디스플레이·반도체 패키징 적용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645920"/>
            <a:ext cx="35387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38744" y="233172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글라스 가공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743200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UTG·커버글라스 정밀 커팅·드릴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스텔스 다이싱·내부 가공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UTG 이중층 확장 가능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이종금속 용접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Al-Cu·스틸-알루 이종재 용접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중프레임·구조재 양산 적용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탭 용접으로 확장 가능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5112" y="397764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◎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Selective 제거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2272" y="5074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광흡수 기반 선택적 물질 제거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디본딩 적용 가능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반도체 패키징 $166M 시장 연결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1584" y="3977640"/>
            <a:ext cx="3538728" cy="2148840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 w="127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84464" y="411480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강점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84464" y="4480560"/>
            <a:ext cx="3172968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5대 기술 모두 자체 개발 기반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4개 기술이 신시장 직결 확장 가능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이종금속·LLO는 즉시 사업화 가능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응용 시장 규모 총괄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4206240"/>
                <a:gridCol w="2130552"/>
              </a:tblGrid>
              <a:tr h="6270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응용 분야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 / 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당사 연결 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레이저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$3.2B (2026)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이종금속(Al-Cu) 탭·버스바 용접 급성장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USP (초단펄스) 장비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$2.45 ~ 2.76B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항공·의료·반도체 초정밀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LILE, Selective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AM (LPBF/SLM)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$2.56 ~ 3.7B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항공·의료 금속 3D 프린팅 고성장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이종금속 용접 기반 확장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장비 (단독)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$150 ~ 255M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 포함 시 $295~610M, 생태계 $1B+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(핵심 보유)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어닐링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$876M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ELA·Green 레이저 양산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연동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디본딩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$166M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패키징 임시 접합 해제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Selective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* 시장 규모 출처: Mordor Intelligence, MarketsandMarkets, IDTechEx (2024~2025). 환율·범위 정의에 따라 수치 차이 발생.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스마트폰/디스플레이: LLO·ELA가 양산 표준, GLLO가 차세대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617720"/>
          </a:xfrm>
          <a:prstGeom prst="roundRect">
            <a:avLst>
              <a:gd name="adj" fmla="val 198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현행 표준 — LLO + 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308nm 엑시머 레이저: 플렉서블 OLED 분리 표준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ELA (Excimer Laser Annealing): 저온폴리실리콘 결정화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성숙기 진입 — 장비 단가 압력 증가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Samsung·BOE·CSOT 전 라인 적용 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4997196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당사 LLO 장비: 현재 양산 대응 가능 상태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1645920"/>
            <a:ext cx="5362956" cy="4617720"/>
          </a:xfrm>
          <a:prstGeom prst="roundRect">
            <a:avLst>
              <a:gd name="adj" fmla="val 1980"/>
            </a:avLst>
          </a:prstGeom>
          <a:solidFill>
            <a:srgbClr val="EBF0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737360"/>
            <a:ext cx="4997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차세대 — GLLO (Green LLO)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60236" y="2240280"/>
            <a:ext cx="4997196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1676" y="2286000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탄화 발생 92.8% 감소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1676" y="2606040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캐리어 재사용 가능 → 원가 구조 혁신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0236" y="3017520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532nm 그린 레이저 기반 — 엑시머 대비 TCO 우위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0236" y="3584448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폴더블 UTG·초박형 캐리어 가공에 적합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60236" y="4151376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Samsung Display 2025~2026 전환 검토 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0236" y="4718304"/>
            <a:ext cx="4997196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당사 현행 LLO → GLLO 업그레이드 경로 존재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TV/가전: LCD 커팅부터 세탁기 드럼 용접까지 양산 표준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64208"/>
            <a:ext cx="54864" cy="8229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LCD 대면적 레이저 커팅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93976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65~85인치 패널 스크라이빙·브레이킹 대체. 기계적 손상 제거, 엣지 품질 향상.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60320"/>
            <a:ext cx="54864" cy="8229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24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OLED TV LLO / ELA 적용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90088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 OLED·Samsung QD-OLED 생산 라인에 LLO·ELA 표준 적용 완료.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56432"/>
            <a:ext cx="54864" cy="8229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세탁기 드럼 레이저 용접 — 22초 사이클타임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스테인리스 드럼 레이저 용접. 기존 TIG 대비 사이클타임 22초, 스패터 제로.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52544"/>
            <a:ext cx="54864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레이저 텍스처링 (접촉각 150° 초발수)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782312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가전 표면 초발수/초발유 처리. 접촉각 150°+ 달성. 코팅 없는 기능성 표면.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4865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E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248656"/>
            <a:ext cx="54864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126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코봇 + 레이저 협동 시스템 확산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678424"/>
            <a:ext cx="10652760" cy="33832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6축 로봇 + 레이저 헤드 통합. 가전 곡면부·불규칙 형상 자동 가공 보급 확대.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55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범용 제조: USP 고정밀 가공과 적층 제조가 핵심 성장 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545836" cy="1280160"/>
          </a:xfrm>
          <a:prstGeom prst="roundRect">
            <a:avLst>
              <a:gd name="adj" fmla="val 7143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$2.56~3.7B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8892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AM (LPBF/SLM)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8892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티타늄 SLM 케이스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6레이저 병렬 / 연 400톤 재료 절감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68796" y="1664208"/>
            <a:ext cx="5545836" cy="1280160"/>
          </a:xfrm>
          <a:prstGeom prst="roundRect">
            <a:avLst>
              <a:gd name="adj" fmla="val 7143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609076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DED 항공 리드타임 단축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09076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항공 구조재 복합 가공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주조 → 레이저 DED로 전환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65836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455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USP 유리-금속 접합 (57.7 MPa)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438144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펨토초 레이저 유리-금속 이종접합. 57.7MPa 인장강도 달성. 광학 어셈블리·의료기기 적용.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31336"/>
            <a:ext cx="54864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67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USP 레이저 시장 $2.45~2.76B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16052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항공·의료·반도체 초정밀 가공 수요. 피코·펨토초 장비 고성장. 당사 LILE 기술 연계 가능.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53712"/>
            <a:ext cx="54864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590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레이저 AM 항공 구조재 대체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4882896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Airbus·Boeing DED 적용 확대. 티타늄·인코넬 대형 부품 90% 리드타임 단축.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276088"/>
            <a:ext cx="54864" cy="65836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3126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레이저 + AI 품질 인라인 검사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560527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용융지 모니터링 + ML 피드백. LPBF 공정 내 기공 발생 실시간 억제. 항공 인증 가속.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시장 정의에 따라 규모가 6배 다르다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1E293B"/>
          </a:solidFill>
          <a:ln w="127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"LLO 시장 $255M vs $1.48B" — 혼동 상태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0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리서치사마다 LLO 범위 정의가 다름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$255M: 장비(Tool) 단독 기준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$1.48B: ELA 포함·서비스·소모품 합산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보고서 구매 시 정의 불일치로 과대 기대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경쟁사 비교 시 사과-사과 비교 불가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28232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범위 3단계 구분으로 해소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28232" y="2651760"/>
            <a:ext cx="5029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① 장비 단독: $150 ~ 255M (협의)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② 서비스·소모품 포함: $295 ~ 610M (광의)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③ 생태계 전체(ELA·소재·MRO): $1B+ (초광의)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→ 당사 TAM 계산 시 반드시 "장비 단독" 기준 사용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→ 경쟁사 분석 시 범위 기준 명시 필수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보유 기술 × 시장 기회 매트릭스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즉시 확장 (High × High)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 → 폴더블/GLLO 업그레이드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이종금속 용접 → EV 배터리 $3.2B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글라스 가공 → UTG 폴더블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지금 투자·PoC 우선순위 1순위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4592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중기 육성 (Low × High)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LILE → MicroLED 수리·리페어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Selective 제거 → 반도체 디본딩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3~12개월 내 파트너십·PoC 개시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완성도 확보 후 확장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02336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현금 창출 (High × Low)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LLO·ELA 현행 양산 유지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세탁기·TV 가전 용접 수주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현재 매출 기반 유지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신기술 투자 재원 역할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402336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023360"/>
            <a:ext cx="535838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관망 / 재검토 (Low × Low)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45720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AM (LPBF/SLM) 직접 진출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범용 USP 장비 독자 개발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역량 대비 진입장벽 높음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제휴·OEM 경유 접근 검토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31920"/>
            <a:ext cx="1109167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172200"/>
            <a:ext cx="11091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기술 보유 수준 →  낮음  →  높음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1645920"/>
            <a:ext cx="502920" cy="4617720"/>
          </a:xfrm>
          <a:prstGeom prst="rect">
            <a:avLst/>
          </a:prstGeom>
          <a:noFill/>
          <a:ln/>
        </p:spPr>
        <p:txBody>
          <a:bodyPr wrap="square" rtlCol="0" anchor="ctr" vert="eaVer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시장 성장성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B02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2103120"/>
            <a:ext cx="13716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224028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구조 변화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0" y="3063240"/>
            <a:ext cx="6153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스마트폰/디스플레이가 레이저 수요를 폭발시킨다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37490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폴더블 iPhone 2026 출시 확정과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Display 독점 공급이 레이저 수요의 임계점을 만든다.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 폴더블 iPhone 2026 확정 — Samsung Display 독점 공급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600200"/>
            <a:ext cx="12188952" cy="36576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15M+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722876" y="3749040"/>
            <a:ext cx="2743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패널/년 공급 규모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폴더블 iPhone 2026, Samsung Display 독점 공급 확정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▲ 폴더블 침투율 2027년 3%+ 전망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EB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458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5458968"/>
            <a:ext cx="1914144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출시 예정 연도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5733288"/>
            <a:ext cx="1914144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공급망 소식통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복수 확인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7304" y="5440680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E6FA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4464" y="5458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SDC 독점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00344" y="5458968"/>
            <a:ext cx="1914144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Samsung Display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0344" y="5733288"/>
            <a:ext cx="1914144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UTG + 힌지 패널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독점 공급 확정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25968" y="5440680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FF8E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3128" y="5458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3%+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89008" y="5458968"/>
            <a:ext cx="1914144" cy="25603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2027년 폴더블 침투율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89008" y="5733288"/>
            <a:ext cx="1914144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스마트폰 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비중 전망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크리즈프리 폴더블: 레이저 드릴 금속 플레이트가 핵심 공정으로 부상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394960" cy="5212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CES 2026 Samsung Display 시연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5720" cy="438912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크리즈 저감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20% 감소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CES 2026 공개 시연 — 레이저 드릴 금속 플레이트 적용 결과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대상 패널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15M+/년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0266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Apple/Samsung 확정 폴더블 OLED 수요 (2026~2027)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57530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적용 기술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8039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GLLO + 드릴링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41056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그래핀 지원 LLO + 마이크로홀 금속 힌지 플레이트 복합 공정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65429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8828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힌지 내구성 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51846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체감 폴드 품질 개선 — 프리미엄 제품 차별화 핵심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960120"/>
            <a:ext cx="27432" cy="5212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9592" y="960120"/>
            <a:ext cx="5394960" cy="52120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1005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Fine M-Tec 공급망 &amp; 원가 비교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71032" y="1325880"/>
            <a:ext cx="45720" cy="43891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14173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화학 에칭 원가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08192" y="16459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$20/플레이트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08192" y="1947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공정 — 식각 균일도 한계, 홀 정밀도 ±5μm 수준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08192" y="249631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레이저 드릴링 원가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08192" y="27249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$30~35/플레이트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08192" y="30266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마이크로홀 — 정밀도 ±1μm, 크리즈 저감 핵심 요인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08192" y="357530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원가 프리미엄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08192" y="380390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50~75% 높음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08192" y="41056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품질/수율 개선 효과로 Total BOM에서 정당화 가능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08192" y="465429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주요 공급사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08192" y="48828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Fine M-Tec (한국)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08192" y="51846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삼성디스플레이 주 공급사 — 글로벌 경쟁사 진입 시도 중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 OLED 레이저 공정 진화 타임라인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2286000"/>
            <a:ext cx="11091672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3619" y="2148840"/>
            <a:ext cx="274320" cy="27432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590038" cy="32918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5900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 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GLLO 파일럿 양산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2491" y="1920240"/>
            <a:ext cx="36576" cy="36576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60320"/>
            <a:ext cx="2590038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60320"/>
            <a:ext cx="2590038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삼성디스플레이 그래핀 LLO 파일럿 라인 가동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813048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탄화 잔류물 92.8% 감소 검증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37176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캐리어 기판 재사용 공정 확립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6537" y="214884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38678" y="1051560"/>
            <a:ext cx="2590038" cy="32918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8678" y="1051560"/>
            <a:ext cx="25900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 H2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38678" y="1463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Z Fold 8 / iPhone Fold 양산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15409" y="1920240"/>
            <a:ext cx="36576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38678" y="2560320"/>
            <a:ext cx="2590038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38678" y="2560320"/>
            <a:ext cx="2590038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0118" y="2788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레이저 드릴 금속 플레이트 본격 적용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30118" y="3813048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Apple 첫 폴더블 iPhone 출하 예정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30118" y="4837176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연간 15M+ 패널 수요 발생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69455" y="2148840"/>
            <a:ext cx="274320" cy="2743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11596" y="1051560"/>
            <a:ext cx="2590038" cy="32918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1596" y="1051560"/>
            <a:ext cx="25900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11596" y="1463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 침투율 3%+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88327" y="1920240"/>
            <a:ext cx="36576" cy="36576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1596" y="2560320"/>
            <a:ext cx="2590038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11596" y="2560320"/>
            <a:ext cx="2590038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3036" y="2788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스마트폰 전체 대비 폴더블 3% 돌파 전망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03036" y="3813048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UTG 2세대 공정 상용화 검토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03036" y="4837176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레이저 드릴 공급망 경쟁 본격화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42373" y="214884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4514" y="1051560"/>
            <a:ext cx="2590038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4514" y="1051560"/>
            <a:ext cx="25900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4514" y="1463040"/>
            <a:ext cx="2590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UTG 이중층 표준화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961245" y="1920240"/>
            <a:ext cx="36576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4514" y="2560320"/>
            <a:ext cx="2590038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4514" y="2560320"/>
            <a:ext cx="259003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5954" y="2788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이중층 UTG 구조로 크리즈 추가 저감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75954" y="3813048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USP 인라인 검사 통합 표준화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75954" y="4837176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MicroLED 폴더블 시제품 등장 가능성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MicroLED: 장기 최대 기회이나 수율 병목이 핵심 장벽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05156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/ LIFT 필수 공정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4K 디스플레이 기준 800만 개 마이크로칩 전사 필요.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Laser-Induced Forward Transfer(LIFT)가 핵심 공정으로 레이저 정밀도가 수율 직결.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07024" y="105156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25312" y="1051560"/>
            <a:ext cx="535838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089904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수율 목표 vs 현실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9904" y="15544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상용화 목표 수율: 99.99%+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달성 수준: 99.5~99.8%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0.01% 불량 = 4K 화면에 800개 불량 픽셀 → 허용 불가.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388620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장비 시장 전망 (불확실성 높음)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$4.5B (2035) 전망 — 단일 출처, 수율 해소 전제.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병목 지속 시 시장 실현 시기 후퇴 가능. 투자 판단 시 전제 확인 필수.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07024" y="388620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5312" y="3886200"/>
            <a:ext cx="53583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089904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 Watch MicroLED 백지화 (2024)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9904" y="4389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Apple이 MicroLED Apple Watch 개발을 전면 중단.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 ($3,000/시계)와 수율 문제가 원인 — 기술 낙관론 경계 신호.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타임라인: 역사적 지연 패턴을 반영하라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1E293B"/>
          </a:solidFill>
          <a:ln w="127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낙관적 전망 (2027~2028 상용화)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029200" cy="9144"/>
          </a:xfrm>
          <a:prstGeom prst="rect">
            <a:avLst/>
          </a:prstGeom>
          <a:solidFill>
            <a:srgbClr val="3A4A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기술 성능 향상 속도를 채택 가능성으로 오인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단일 출처(Q-Pixel) 수율 데이터 과신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Apple Watch MicroLED 백지화(2024) 교훈 반영 미흡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확신도: [중간] — 근거 불충분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7BF7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28232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현실 조정 (보수 시나리오 2029년 이후)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28232" y="2651760"/>
            <a:ext cx="5029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7889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수율 99.99%+ 달성 시점이 핵심 촉발 조건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Apple Watch 백지화 = 2~3년 추가 지연 선행 신호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2027년 수율 트리거 모니터링 후 재평가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확신도: [낮음~중간] — 관망 + 트리거 추적 권고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48756" y="1645920"/>
            <a:ext cx="9144" cy="4617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잉크젯 OLED가 FMM 레이저 가공의 구조적 위협이다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1091672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FMM(Fine Metal Mask) 레이저 가공 의존 사업은 잉크젯 전환 시나리오 대비가 필요하다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539496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5394960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783080"/>
            <a:ext cx="54864" cy="205740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013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Samsung EL-QD 잉크젯 264PPI 시제품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Samsung Display가 264PPI 잉크젯 QD-OLED 시제품 공개. FMM 없이 RGB 패터닝 가능성 실증. 현재 색순도·수명 상용화 기준 미달이나 개발 속도 주목.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07024" y="1691640"/>
            <a:ext cx="539496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07024" y="1691640"/>
            <a:ext cx="53949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783080"/>
            <a:ext cx="54864" cy="2057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44184" y="180136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Canon Tokki 잉크젯 OLED 라인 개발 진행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44184" y="219456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Canon Tokki가 증착 장비 독점 지위에서 잉크젯 방식으로 병행 투자. 기존 FMM 증착 장비 공급사의 자기잠식(cannibalization) 전략 — 시장 전환 임박 신호.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4069080"/>
            <a:ext cx="539496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069080"/>
            <a:ext cx="539496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160520"/>
            <a:ext cx="54864" cy="205740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7880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FMM 시장 축소 — 시간 문제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57200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잉크젯 상용화 시 FMM 레이저 커팅·용접·검사 수요 구조적 감소. 단기(~2027) 영향 미미, 2028~2030 전환 가속 시나리오에서 FMM 의존 매출 30~50% 영향 가능.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07024" y="4069080"/>
            <a:ext cx="5394960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4069080"/>
            <a:ext cx="5394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024" y="4160520"/>
            <a:ext cx="54864" cy="2057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44184" y="417880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전략 대응: FMM 의존 사업 축소 시나리오 준비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44184" y="457200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당장 FMM을 대체하는 것이 아니라, 잉크젯 전환 트리거(264PPI 양산 승인, Canon Tokki 라인 발주)를 모니터링하고, FMM 외 레이저 응용 포트폴리오 다각화를 병행.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LLO 대체 위협: GLLO(업그레이드) vs Omniply(파괴)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94960" cy="516636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394960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GLLO — 레이저 LLO의 진화형 (업그레이드)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탄화 저감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92.8% 감소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LLO 탄화 잔류물 대비 — 패널 불량 대폭 축소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캐리어 재사용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8529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비용 절감 직결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그래핀 계면층으로 캐리어 기판 반복 사용 가능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7856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스케일업 과제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39684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그래핀 균일도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대면적(Gen 8+) 그래핀 증착 균일도 확보가 핵심 병목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 상태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50840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파일럿 진행 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53583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Q1 삼성디스플레이 파일럿 — 양산 타임라인 미확정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79592" y="1005840"/>
            <a:ext cx="5394960" cy="5166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9592" y="1005840"/>
            <a:ext cx="5394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1097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Omniply — 비레이저 방식의 파괴적 도전 (파괴)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16752" y="1554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CAPEX 비교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16752" y="1737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기존 LLO의 1/3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16752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투자 비용 대폭 절감 — 중소 팹 진입 장벽 낮춤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16752" y="26700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방식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16752" y="28529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비레이저 박리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127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없이 기계적/화학적 계면 분리 — LLO 시장 직접 위협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16752" y="37856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 상태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16752" y="39684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TV 팹 평가 중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42428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중 대형 TV 팹 평가 결과 예정 — 결과가 핵심 트리거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16752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위협 수준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16752" y="50840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[중간~높음]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53583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TV 팹 채택 확정 시 모바일 OLED로 확산 가능 — 지속 모니터링 필요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디스플레이 분야 핵심 병목 4가지와 해결 조건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091672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54864" cy="132588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1612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병목: LLO 탄화 잔류물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방향: GLLO — 그래핀 계면층 적용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0" y="1280160"/>
            <a:ext cx="1645920" cy="29260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파일럿 단계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52360" y="11612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92.8% 탄화 감소 달성. 대면적 균일도 확보 후 양산 전환 가능.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11091672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14600"/>
            <a:ext cx="54864" cy="1325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6243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병목: MicroLED 전사 수율 (99.5~99.8%)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방향: AI 비전 + 레이저 광학 제어 통합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2743200"/>
            <a:ext cx="1645920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7432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연구 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52360" y="2624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99.99%+ 달성이 상용화 조건. 현재 최선단 AI 인라인 모니터링 연구 진행 중.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11091672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977640"/>
            <a:ext cx="54864" cy="13258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0873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병목: UTG 마이크로크랙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434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방향: USP 파라미터 최적화 + 인라인 검사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4206240"/>
            <a:ext cx="16459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개선 진행 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52360" y="408736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초단펄스(USP) 레이저 pulse duration 최적화로 열영향부 최소화. 인라인 OCT 검사 병행.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5440680"/>
            <a:ext cx="11091672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5440680"/>
            <a:ext cx="54864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76072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760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55504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병목: UDC(언더디스플레이 카메라) 화질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5897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방향: 2027년 이후 재평가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0" y="5669280"/>
            <a:ext cx="16459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5669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관망 권고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52360" y="55504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화질 개선 속도 더딤. 2027년 픽셀 투명도 기술 성숙도 확인 후 투자 판단 권고.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55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81728" y="0"/>
            <a:ext cx="665683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B02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1F5F9">
                    <a:alpha val="30000"/>
                  </a:srgbClr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D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구조 변화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219456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EV 배터리 용접이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가장 확실한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성장 시장이다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846320" y="4526280"/>
            <a:ext cx="109728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46634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$3.2B(2025) → $9.8B(2034) · CAGR 13.2%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이종금속 용접 + AI 인라인이 표준으로 부상 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레이저 용접: 가장 확실한 단기 성장 시장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$3.2B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722876" y="3749040"/>
            <a:ext cx="2743200" cy="914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레이저 용접 시장 (2025)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2034년 $9.8B 전망 — CAGR 13.2% (9년 복합 성장)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▲ CAGR 13.2%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5120640"/>
            <a:ext cx="361188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120640"/>
            <a:ext cx="3611880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52303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13.2%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574243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CAGR 2025~2034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5961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레이저 용접 시장 연평균 성장률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32504" y="5120640"/>
            <a:ext cx="361188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32504" y="5120640"/>
            <a:ext cx="36118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52303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$9.8B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69664" y="574243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2034년 시장 규모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69664" y="5961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현재의 3배 이상 — 10년 내 확실한 성장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90688" y="5120640"/>
            <a:ext cx="361188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0688" y="5120640"/>
            <a:ext cx="361188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7848" y="52303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927848" y="574243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LFP 배터리 비중 (2027E)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27848" y="5961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현재 32% → 이종금속 용접 수요 확대 주요 동인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이종금속 용접: 그린 레이저 + 파이버 하이브리드가 표준 부상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94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54864" cy="265176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365760" cy="36576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구리-알루미늄 이종 용접 — 핵심 과제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탭 및 버스바의 Cu-Al 이종금속 용접은 기존 IR 파이버 레이저로 처리 어려움. 열전도율 불일치, 금속간화합물(IMC) 생성이 용접 강도 저하 원인.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07024" y="1051560"/>
            <a:ext cx="5394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1051560"/>
            <a:ext cx="54864" cy="2651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44184" y="1188720"/>
            <a:ext cx="365760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01384" y="1188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 레이저 — 흡수율 3~5배 우위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44184" y="17373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Cu의 532nm 그린 레이저 흡수율: ~50% vs IR(1064nm): ~5~10%. 흡수율 3~5배 차이로 열 집중 효율 및 용접 일관성 대폭 개선. TRUMPF 그린 레이저 2024-08 출시로 상업화 가속.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5394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31920"/>
            <a:ext cx="54864" cy="265176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069080"/>
            <a:ext cx="365760" cy="36576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069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LFP 배터리 비중 32%→45% (2027E) — 이종금속 수요 확대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6177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리튬인산철(LFP) 배터리 채택 확대 = 알루미늄 케이스 + 구리 탭 조합 증가. 이종금속 용접 적용 비중 확대 — 그린+파이버 하이브리드 시스템 수요 직접 연동.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07024" y="3931920"/>
            <a:ext cx="5394960" cy="265176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024" y="3931920"/>
            <a:ext cx="54864" cy="2651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4184" y="4069080"/>
            <a:ext cx="36576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44184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01384" y="4069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TRUMPF 그린 레이저 2024-08 출시 — 시장 개막 신호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44184" y="46177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TRUMPF TruDisk Green 시리즈 양산 출시. 주요 OEM 평가 착수. IPG, nLIGHT도 그린 레이저 개발 병행 — 경쟁 격화 전 조기 역량 확보가 유리.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55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팩 레이저 용접 공정 체인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253060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15818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8426" y="1645920"/>
            <a:ext cx="253060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29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7298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7298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57316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1636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49924" y="1645920"/>
            <a:ext cx="2530602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8796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8796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98814" y="3611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73134" y="1645920"/>
            <a:ext cx="2567178" cy="438912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1422" y="1645920"/>
            <a:ext cx="2530602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921029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10294" y="2194560"/>
            <a:ext cx="2292858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10294" y="2697480"/>
            <a:ext cx="2292858" cy="3154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5989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인사이트: 셀→모듈→팩 전 공정에 레이저 용접이 적용되며, 각 단계별 레이저 파장/출력 조합이 다르다. 단일 레이저 솔루션이 아닌 멀티-레이저 시스템 통합 역량이 경쟁력의 핵심.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55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가전 레이저: 세탁기 드럼 22초, 텍스처링 150°, 무광 쿡탑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051560"/>
            <a:ext cx="53583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세탁기 드럼 자동화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Coldwater 레이저 용접 라인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22초 → 목표 12초 (45% 단축)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코봇 통합으로 유연 생산. 모델 변경 다운타임 90% 감소 목표.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07024" y="105156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25312" y="1051560"/>
            <a:ext cx="53583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089904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텍스처링 — 접촉각 150°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9904" y="15544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스테인리스 표면 레이저 마이크로텍스처링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접촉각 150° 달성 = 초소수성(Superhydrophobic)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세탁기/냉장고 위생 표면 차별화 소재 적용 확대.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3886200"/>
            <a:ext cx="53583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SCHOTT 무광 세라믹 쿡탑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SCHOTT CERAN Suprema Matte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2025-03 직렬 생산 돌입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표면 처리로 무광 질감 구현. 프리미엄 빌트인 시장 타겟.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07024" y="388620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5312" y="3886200"/>
            <a:ext cx="53583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089904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코봇 + 레이저 통합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9904" y="4389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Universal Robots + 레이저 툴 헤드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FABTECH 2025 다수 사례 발표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중소 가전 제조사 유연 자동화 확산. 초기 투자 장벽 하락 중.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TV: Samsung CES 2026 라인업 확장, 수리 공정이 핵심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1091672" cy="50292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Samsung CES 2026: 55~130인치 MicroLED TV 라인업 공개 — 수리(Repair) 공정이 수율의 핵심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45920"/>
            <a:ext cx="5394960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55648"/>
            <a:ext cx="1645920" cy="27432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130" 플래그십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130인치 Micro RGB — 플래그십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CES 2026 주력 전시. RGB MicroLED 직접 발광 — OLED 대비 밝기 우위. 레이저 전사(LIFT) 공정 의존도 높음. 원가 여전히 프리미엄 시장 한정.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07024" y="164592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645920"/>
            <a:ext cx="53949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4184" y="1755648"/>
            <a:ext cx="164592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4184" y="1755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Innovation Award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44184" y="2103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83인치 투명 MicroLED — CES Innovation Award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44184" y="24871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CES 2026 Innovation Award 수상. 투명 디스플레이 = 공간 컴퓨팅 연계 가능성. 레이저 기반 마이크로칩 정렬 정밀도가 투명도 품질 직결.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206240"/>
            <a:ext cx="5394960" cy="5486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315968"/>
            <a:ext cx="1645920" cy="2743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55~115" 라인업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4663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55~115인치 라인업 — 시장 확대 신호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04748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130인치 단일 제품에서 55인치까지 라인업 확대. 소비자 MicroLED 접근성 향상 의도. 수율 기반 원가 하락 없으면 볼륨 확대 한계 — 수리 공정이 병목.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07024" y="420624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4206240"/>
            <a:ext cx="5394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4184" y="4315968"/>
            <a:ext cx="164592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4184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수리 공정 핵심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44184" y="4663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수리(Repair) 공정 — 레이저 의존도 높음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44184" y="504748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 MicroLED 선택적 제거 후 재전사 = Laser Lift-Off + 재증착. 수율 99.5%에서 99.99%로 올리는 과정에서 수리 공정 레이저 사용 비중 급증. 수리 공정 역량이 사실상 수율 역량.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인간형 로봇: 기대는 크나 레이저 가공 근거가 약하다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1091672" cy="45720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⚠ 확신도: [낮음] — 레이저 전환 원문 미확인 · Tesla Optimus 양산 지연 반복 · CNC 주도 현실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54864" cy="233172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709928"/>
            <a:ext cx="1737360" cy="27432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709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중간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전망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인간형 로봇 시장 $11.5B (2030) 예측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하모닉 드라이브: 로봇 1대당 14~28개 사용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[발행일: 2024-06] — 현재 유효성 확인 권고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07024" y="160020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600200"/>
            <a:ext cx="54864" cy="2331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1744" y="1709928"/>
            <a:ext cx="173736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81744" y="1709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낮음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89904" y="17099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현실: CNC 주도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9904" y="21031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하모닉 드라이브, 볼스크류, 정밀 기어 가공은 현재 CNC 머시닝 주도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전환 사례 원문 미확인 — 업계 발표에서만 언급 수준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160520"/>
            <a:ext cx="54864" cy="23317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4270248"/>
            <a:ext cx="1737360" cy="2743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270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낮음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27024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Tesla Optimus 지연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Tesla Optimus 양산 목표 반복 연기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(2023년 → 2024년 → 2025년 → 재조정)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조기 레이저 설비 투자 근거 미성숙 — 지연 패턴 MicroLED와 유사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07024" y="4160520"/>
            <a:ext cx="539496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4160520"/>
            <a:ext cx="54864" cy="2331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81744" y="4270248"/>
            <a:ext cx="173736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81744" y="4270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확신도: 낮음~중간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89904" y="427024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기회 조건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9904" y="466344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부품 소형화 + 생산량 급증 시 레이저 용접/드릴링 수요 발생 가능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2027년 이후 양산 규모 확인 후 진입 시점 재평가 권고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D 시장 기회 요약 — 확실성 × 규모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3776472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영역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미래 전망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확실성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레이저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$3.2B (2025)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$9.8B (2034) · CAGR 13.2%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TV 레이저 공정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 / 소량 생산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잠재 $4.5B (2035) — 불확실성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낮음~중간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가전 레이저 용접/텍스처링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시장 (성숙)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코봇+레이저 확산으로 점진적 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인간형 로봇 레이저 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/ 미확인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잠재 대형이나 CNC 주도 현실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983480"/>
            <a:ext cx="11091672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4983480"/>
            <a:ext cx="54864" cy="155448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04748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역방향 의사결정 가이드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5376672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지금 베팅: EV 배터리 용접 — 확실성 높음, 기술 연계성 명확, IATF 인증 선착 유리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5605272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제한적 실험: 가전 텍스처링/코봇 — 기존 역량 활용 가능, 리스크 낮음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5833872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관망: MicroLED TV — 2027년 수율 트리거 확인 후 진입 검토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062472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회피: 인간형 로봇 (현재) — 레이저 전환 근거 미확인, CNC 주도 현실 유지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2011680"/>
            <a:ext cx="61539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소스 경쟁과 AI 융합이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산업 구도를 재편한다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0" y="384048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IPG vs. 중국 레이저의 가격 역습, USP 시장 구조 변화,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AI+센서 융합으로 레이저가 자율 공정 단위로 진화한다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0" y="3703320"/>
            <a:ext cx="1828800" cy="45720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중국 파이버 레이저의 가격 역습: IPG -22% YoY vs Raycus 점유율 30%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629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IPG Photonics — 구조적 하락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9971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-22%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 2024 매출 YoY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50215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33756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내 매출 비중 급감 — 2020년대 초 40%+ → 2024년 10%대로 수축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28016" cy="12801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3192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파이버 레이저 평균 판가(ASP) 지속 하락 — 중국산 경쟁 심화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690872"/>
            <a:ext cx="128016" cy="12801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2628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북미/유럽 시장은 방어 중이나 단독으로 성장 상쇄 불가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285232"/>
            <a:ext cx="128016" cy="128016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2064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고출력 레이저 &amp; 의료/방산 부문으로 포트폴리오 이동 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1645920"/>
            <a:ext cx="5362956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6277356" y="1645920"/>
            <a:ext cx="53629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Raycus / MAX — 시장 점령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0236" y="2103120"/>
            <a:ext cx="49971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460236" y="292608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Raycus 중국 내 파이버 레이저 점유율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68796" y="3502152"/>
            <a:ext cx="128016" cy="128016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333756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 Photonics 20~30kW 고출력 제품 출시 — 산업용 두께 절단 시장 장악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68796" y="409651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6597396" y="393192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Raycus 3kW 제품 IPG 대비 50~60% 저가 — 조선/중공업 고객 대거 이탈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68796" y="4690872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597396" y="452628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TRUMPF, 특허 침해 소송 제기 (2024) — 법적 대응이 시장 진입 속도 제한 가능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68796" y="5285232"/>
            <a:ext cx="128016" cy="12801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6597396" y="5120640"/>
            <a:ext cx="49514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내수 보조금 + 수출 보조금 구조 — 원가 경쟁력의 구조적 기반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0468" y="1645920"/>
            <a:ext cx="36576" cy="502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중국 USP 레이저 진입: '서방 수성' 가정이 5년 내 무효화될 수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 — 현재 통념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5212080" cy="4389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"표준 레이저 = 중국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i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고정밀 USP = 서방"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고정된 분업 구도 가정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74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Coherent, TRUMPF, II-VI가 USP fs/ps 시장 80%+ 장악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224528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041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기업은 원가 경쟁력은 있으나 정밀 레이저 기술 부재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791456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608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고부가가치 응용(반도체, 의료, 정밀 가공)은 서방 독점 구조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358384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755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USP 레이저는 진입 장벽(광학 설계, 펨토초 제어) 높아 5~10년 격차 유지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474720"/>
            <a:ext cx="822960" cy="640080"/>
          </a:xfrm>
          <a:prstGeom prst="rightArrow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4160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76872" y="1691640"/>
            <a:ext cx="4663440" cy="3840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0" name="Text 18"/>
          <p:cNvSpPr/>
          <p:nvPr/>
        </p:nvSpPr>
        <p:spPr>
          <a:xfrm>
            <a:off x="6976872" y="16916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 — 가능한 미래 시나리오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76872" y="2075688"/>
            <a:ext cx="4663440" cy="4389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7159752" y="22402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"서방 수성" 가정이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5년 내 무효화 가능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59752" y="3063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[확신도: 낮음~중간]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59752" y="3657600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7388352" y="3474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Raycus, USP 펨토초 레이저 독자 개발 본격화 (2024 진행 중)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59752" y="4224528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7388352" y="40416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100kW급 파이버 레이저 개발 완료 — 고출력 기술 축적 증명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9752" y="4791456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9" name="Text 27"/>
          <p:cNvSpPr/>
          <p:nvPr/>
        </p:nvSpPr>
        <p:spPr>
          <a:xfrm>
            <a:off x="7388352" y="460857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내 반도체/디스플레이 USP 수요 급증으로 자체 공급 동기 강함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59752" y="5358384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7388352" y="51755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내 프리미엄 USP 시장 진입 가능 — 단, 수출 규제·특허 장벽이 변수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레이저 시장: fs 64% 점유, $2.45~2.76B(2025) → $10B+(2033)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383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01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64.4%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fs(펨토초) 레이저 점유율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USP 시장 내 fs 비중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691640"/>
            <a:ext cx="33832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01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$2.76B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89120" y="25146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2025년 USP 레이저 시장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8803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고점 추정치 기준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0" y="1691640"/>
            <a:ext cx="338328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801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$10B+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092440" y="25146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2033년 전망 시장 규모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28803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CAGR 17~20% 가정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201168" cy="38404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291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&gt;100W fs 산업용 레이저 등장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3621024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Coherent EDGE FL30 (30kW급 파이버), &gt;100W fs 고출력화 — 반도체·디스플레이 대면적 가공 확장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201168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39502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적응형 빔 쉐이핑 + AI 결합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4279392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빔 프로파일 최적화 + AI 파라미터 제어 — 다재료·다공정 대응 범용화 가속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00016"/>
            <a:ext cx="201168" cy="3840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6085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비용 하락 곡선 가속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" y="4937760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5kW fs 레이저 가격 2020~2025년 40~50% 하락 추정 — 중소기업 진입 장벽 완화, 채택 가속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358384"/>
            <a:ext cx="201168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" y="52669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응용 확장: 반도체·의료·EV·항공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" y="5596128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태양전지 스크라이빙, 의료 스텐트 가공, EV 전극 슬리팅, 항공 냉각홀 — 수요 다각화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AI+센서 융합이 레이저를 '자율 공정 단위'로 전환시킨다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20040" cy="14173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최상위 계층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51560" y="1801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공정 플랫폼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폐루프(Closed-Loop) 제어  •  예지 보전(Predictive Maintenance)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데이터 레이크  •  다공정 오케스트레이션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18013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플랫폼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91672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246120"/>
            <a:ext cx="320040" cy="1417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9184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계층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" y="33558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엔진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840480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모니터링(Melt Pool / 용접 비드 실시간 분석)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파라미터 자동 최적화  •  GAN 기반 melt pool 품질 예측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35584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엔진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417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800600"/>
            <a:ext cx="320040" cy="14173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846320"/>
            <a:ext cx="228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기초 계층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1560" y="49103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하드웨어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5394960"/>
            <a:ext cx="102412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소스(파이버/USP/그린)  •  고속 광학 센서  •  적응형 광학(AO)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피드백 제어기(FPGA/DSP)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49103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4434840"/>
            <a:ext cx="1097280" cy="320040"/>
          </a:xfrm>
          <a:prstGeom prst="upArrow">
            <a:avLst/>
          </a:prstGeom>
          <a:solidFill>
            <a:srgbClr val="FFB020"/>
          </a:solidFill>
          <a:ln/>
        </p:spPr>
      </p:sp>
      <p:sp>
        <p:nvSpPr>
          <p:cNvPr id="23" name="Shape 21"/>
          <p:cNvSpPr/>
          <p:nvPr/>
        </p:nvSpPr>
        <p:spPr>
          <a:xfrm>
            <a:off x="5577840" y="2880360"/>
            <a:ext cx="1097280" cy="320040"/>
          </a:xfrm>
          <a:prstGeom prst="upArrow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레이저 공정의 3대 구조 변화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레이저 → 자율 공정 단위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엔지니어의 파라미터 수동 튜닝 역할 감소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소프트웨어(AI 모델, 공정 레시피 DB)의 가치 급등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HW 마진 압박 — SW/서비스 수익 비중 증가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9164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5287" y="169164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전용 장비 → 범용 플랫폼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9456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쉐이핑 + AI 파라미터 최적화로 단일 장비가 다품종 대응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고객당 매출 단가 상승 (장비 × 소프트웨어 × 유지보수)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장벽: 레시피 라이브러리가 경쟁 해자로 부상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9164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3646" y="169164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사후 검사 → 인라인 보정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9456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결함 억제 — 반품률·불량률 구조적 개선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Melt pool 모니터링으로 용접 강도 예측 (GAN 모델 활용)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 단계 제거 → 사이클타임 단축 + 라인 가동률 향상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55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 기술 대비 레이저 우위/열위 — 정밀도·비용·환경·재료 범위·시장 규모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1856232"/>
                <a:gridCol w="1847088"/>
                <a:gridCol w="1856232"/>
                <a:gridCol w="1856232"/>
                <a:gridCol w="1847088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경쟁력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 친화성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 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플라즈마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열위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열위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열위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열위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열위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 제한적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소규모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CNC 기계가공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열위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✗ 열위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 경성 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우위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91672" cy="594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5669280"/>
            <a:ext cx="73152" cy="5943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5687568"/>
            <a:ext cx="107899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인사이트: 레이저의 비용 열위는 고정밀·다재료 응용에서 상쇄된다. 비용이 유일한 선택 기준인 표준 절단 시장은 중국 레이저에 내어주고, 정밀도·유연성·환경 규제 대응이 필요한 고부가 시장 집중이 방어 전략이다.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2011680"/>
            <a:ext cx="61539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3가지 미래 시나리오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어떤 미래에 베팅할 것인가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0" y="384048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보수 / 기준 / 공격 시나리오별 전제, 촉발 조건, 우리의 전략을 정의한다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0" y="3703320"/>
            <a:ext cx="1828800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4846320"/>
            <a:ext cx="1645920" cy="5943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4846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4846320"/>
            <a:ext cx="1645920" cy="59436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4846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4846320"/>
            <a:ext cx="1645920" cy="5943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4846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공격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시나리오 매트릭스: 보수 / 기준 / 공격 — 전제, 촉발 조건, 반증 조건</a:t>
            </a:r>
            <a:endParaRPr lang="en-US" sz="2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3026664"/>
                <a:gridCol w="3026664"/>
                <a:gridCol w="3026664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 (25%)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(50%)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공격 (25%)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전제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수율 미해소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2029년 이후 상용화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워치/AR 소량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침투율 3%+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스마트폰 2027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5%+ / 로봇 10만대+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촉발 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수율 99.99% 미달 지속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Apple Watch 2차 백지화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YoY 30%+ 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CAGR 13%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수율 99.99% 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로봇 1만대/년 양산 돌파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반증 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수율 급등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시장 급성장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2025~2026 조기 상용화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로봇 양산 예상 초과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수율 2030년까지 미달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접착 본딩 대체 가속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레이저 전략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기존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용접 집중 (그린+파이버)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폴더블+EV 양면 추진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GLLO R&amp;D 병행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LIFT 본격 + EV + 로봇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전략 핵심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그린 레이저 PoC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IATF 인증 착수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+ 폴더블 드릴링 역량 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R&amp;D 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MicroLED+로봇+AI 플랫폼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공격적 선점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시나리오별 핵심 차이점 — 무엇이 달라지는가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3477463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보수 시나리오 — LLO 유지 + EV 집중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2029년+ 가정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 기존 공정 유지, 대규모 R&amp;D 투자 보류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용접 집중: 그린+파이버 하이브리드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IATF 인증 12~24개월 착수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기회 놓칠 리스크: MicroLED 조기 전환 시 2~3년 지연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9164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5287" y="169164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 시나리오 — 폴더블+EV 양면 추진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9456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R&amp;D 준비 병행 (본격 투자는 아님)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폴더블 드릴링 역량 확보 + EV 용접 동시 진행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GLLO 스케일업 R&amp;D 파트너십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인라인 모니터링 PoC 착수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균형 전략: 리스크 분산 + 기회 유지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91640"/>
            <a:ext cx="3514039" cy="438912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3646" y="169164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공격 시나리오 — MicroLED + 로봇 + AI 플랫폼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94560"/>
            <a:ext cx="3148279" cy="3703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LIFT 장비 본격 개발 (수율 트리거 확인 후)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인간형 로봇 레이저 가공 선점 시도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공정 플랫폼 구축 — 장비 → 소프트웨어 매출 전환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가장 큰 오판 리스크: MicroLED 지연·로봇 양산 실패 시 매몰비용 높음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55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오판 리스크 매트릭스 — 이 판단이 틀렸을 때 무엇을 잃는가</a:t>
            </a:r>
            <a:endParaRPr lang="en-US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48056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4114800"/>
                <a:gridCol w="2039112"/>
              </a:tblGrid>
              <a:tr h="746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영역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오판 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잃는 것 (기회비용/매몰비용)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접착 본딩이 레이저 용접을 대체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(전고체 배터리 구조 변경)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IATF 인증 비용 + EV 투자 기회비용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대안: 전고체 대응 기술 별도 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디스플레이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성장 정체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(크리즈 문제 미해결, 소비자 외면)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드릴링 장비 투자비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대안: OLED/UTG 공정으로 전환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수율 갑자기 해결, 조기 양산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(우리 진입 2~3년 지연)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고부가 MicroLED 시장 선점 기회 상실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대안: 2027년 트리거 모니터링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낮음~중간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GLLO 스케일업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 성공했으나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채택 저조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 비용 (제한적, 파트너십으로 분산 가능)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대안: 외부 라이선싱 또는 공동 개발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중국 USP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중국 USP 급성장 대비 안 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(소싱·공급망 전략 부재)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소싱 비용 급증 + 가격 경쟁력 약화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대안: 고정밀 응용 영역 선점 + 소싱 이원화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틀릴 가능성이 가장 큰 3가지 전제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타임라인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역사적으로 가장 자주 틀려온 전제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0" y="182880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[확신도: 낮음~중간]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441448"/>
            <a:ext cx="10268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2015년 이후 매 2~3년마다 "2~3년 내 상용화"가 반복됐다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현재 수율 99.5~99.8% — 목표 99.99%까지 0.2% 격차가 기하급수적 어려움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보수 시나리오: 2029년 이후. 단, 2027년 워치/AR 소량 양산 가능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함의: 2년 버퍼를 기본 가정으로 내장하고, 2026~2027년 신호를 분기별 점검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9167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429000"/>
            <a:ext cx="685800" cy="6858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29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인간형 로봇 양산 스케일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1만 대/년 이전 레이저 수요는 미미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333756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[확신도: 낮음]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950208"/>
            <a:ext cx="10268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Tesla Optimus, Figure AI 등 "수십만 대" 목표 반복 발표 — 실현 지연 패턴 반복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현실: 2025년 말 기준 연간 수천 대 수준 (레이저 수요 임계점 미달)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하모닉 드라이브 레이저 가공 전환 근거 독립 검증 없음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함의: 2028년 이전 로봇 레이저 수요 기반 투자는 보류. 10만 대/년 돌파 확인 후 진입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36008"/>
            <a:ext cx="1109167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93776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37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8006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공정 모니터링 범용화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5166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파일럿→양산 갭이 예상보다 클 수 있다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[확신도: 중간]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5458968"/>
            <a:ext cx="102687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파일럿 환경 성공률은 높으나 양산 전환 성공률은 1~5% (제조 AI 전반)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레이저 공정 AI는 재료 변동성·빔 드리프트·환경 변수에 취약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실무자 경험: "AI가 잘 되는 레이저 공정"과 "AI가 필요한 레이저 공정"이 다름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함의: 파일럿 PoC를 먼저 수행하고, 양산 갭 측정 후 투자 확대 결정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34107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8FAFC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2194560"/>
            <a:ext cx="6153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 옵션과 실행 로드맵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0" y="3154680"/>
            <a:ext cx="6153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8가지 전략 옵션의 우선순위와 0~36개월 실행 계획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4114800"/>
            <a:ext cx="182880" cy="18288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5806440" y="4050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베팅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4617720"/>
            <a:ext cx="182880" cy="1828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제한적 실험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5120640"/>
            <a:ext cx="182880" cy="1828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5056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관망 / 회피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8가지 전략 옵션 — 기대 효과, 비용, 리스크, 권고 수준</a:t>
            </a:r>
            <a:endParaRPr lang="en-US" sz="2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754880"/>
        </p:xfrm>
        <a:graphic>
          <a:graphicData uri="http://schemas.openxmlformats.org/drawingml/2006/table">
            <a:tbl>
              <a:tblPr/>
              <a:tblGrid>
                <a:gridCol w="2468880"/>
                <a:gridCol w="2286000"/>
                <a:gridCol w="1645920"/>
                <a:gridCol w="2103120"/>
                <a:gridCol w="2587752"/>
              </a:tblGrid>
              <a:tr h="528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 옵션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비용·난이도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이종금속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$3.2B 시장, CAGR 13%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(그린레이저+IATF)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 12~24개월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★★★★★ 지금 베팅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크리즈프리 드릴링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15M+ 패널/년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수요 불확실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 지금 베팅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GLLO R&amp;D 파트너십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차세대 업그레이드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스케일업 실패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 제한적 실험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USP 유리-금속 접합 PoC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이종접합 차별화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저~중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강도 재현성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 제한적 실험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인라인 모니터링 평가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전공정 수율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파일럿→양산 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 제한적 실험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LIFT 장비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 고성장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타임라인 지연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 관망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클리닝/에칭 환경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EU REACH 수혜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전환비용 저항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 관망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로봇 하모닉 드라이브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잠재 고성장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양산지연+CNC 미입증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 회피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 옵션 우선순위 피라미드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691640"/>
            <a:ext cx="3776472" cy="8229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379476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베팅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60720" y="1737360"/>
            <a:ext cx="1490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이종금속 용접 + 폴더블 크리즈프리 드릴링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496312"/>
            <a:ext cx="3776472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2606040"/>
            <a:ext cx="5971032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제한적 실험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3685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GLLO R&amp;D 파트너십 + USP 유리-금속 접합 PoC + AI 인라인 모니터링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456432"/>
            <a:ext cx="5971032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3566160"/>
            <a:ext cx="8348472" cy="8686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61188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LIFT 장비 + 레이저 클리닝/에칭 환경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416552"/>
            <a:ext cx="8348472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26280"/>
            <a:ext cx="11091672" cy="868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51760" y="4572000"/>
            <a:ext cx="8805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하모닉 드라이브 — 근거 부족, 2028 재평가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76672"/>
            <a:ext cx="11091672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" y="2011680"/>
            <a:ext cx="365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우선순위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" y="16459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▲ 높음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" y="5212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▼ 낮음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55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베팅 2개의 핵심 KPI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408676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429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$3.2B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레이저 용접 시장 (2025)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$9.8B(2034) — 가장 확실한 단기 성장 기회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1636" y="1645920"/>
            <a:ext cx="5408676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1783080"/>
            <a:ext cx="50429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13.2%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14516" y="260604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용접 시장 CAGR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4516" y="2999232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3배 성장 — 그린레이저+파이버 하이브리드 수요 주도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160520"/>
            <a:ext cx="5408676" cy="64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50429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15M+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폴더블 패널 수요 (패널/년)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513832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iPhone Fold(2026) + Samsung Z Fold 8 — 크리즈프리 드릴링 수요 확정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1636" y="4160520"/>
            <a:ext cx="5408676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14516" y="4297680"/>
            <a:ext cx="50429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12~24개월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14516" y="512064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IATF 16949 인증 소요 기간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4516" y="5513832"/>
            <a:ext cx="50429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공급망 진입의 핵심 선행 조건 — 지금 착수해야 하는 이유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55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로드맵: 지금(0~3개월) — 즉시 착수 액션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38404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 ~ 3개월 (지금)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2377440"/>
            <a:ext cx="10451592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2267712"/>
            <a:ext cx="228600" cy="228600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1156" y="2496312"/>
            <a:ext cx="18288" cy="3200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2816352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816352"/>
            <a:ext cx="3200400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EV 배터리 PoC 제안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401568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고객: LG에너지솔루션 / 삼성SDI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그린레이저(532nm) + 파이버 하이브리드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구리-알루미늄 이종용접 시연용 샘플 제작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IATF 16949 인증 착수 결정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267712"/>
            <a:ext cx="228600" cy="228600"/>
          </a:xfrm>
          <a:prstGeom prst="ellipse">
            <a:avLst/>
          </a:prstGeom>
          <a:solidFill>
            <a:srgbClr val="00D4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82996" y="2496312"/>
            <a:ext cx="18288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816352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816352"/>
            <a:ext cx="320040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폴더블 드릴링 역량 평가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401568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크리즈프리 금속 플레이트 레이저 드릴링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분석: Fine M-Tec 공급망 구조 파악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USP 장비 적용 가능성 평가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개발 착수 또는 파트너십 결정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2267712"/>
            <a:ext cx="228600" cy="228600"/>
          </a:xfrm>
          <a:prstGeom prst="ellipse">
            <a:avLst/>
          </a:prstGeom>
          <a:solidFill>
            <a:srgbClr val="FFB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74836" y="2496312"/>
            <a:ext cx="18288" cy="32004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0" y="2816352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816352"/>
            <a:ext cx="3200400" cy="64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GLLO R&amp;D 파트너십 탐색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3401568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그래핀 파운드리 협력 가능 파트너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탄화 잔류물 92.8% 감소 기술 확인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캐리어 기판 재사용 경제성 분석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공동 개발 계약 논의 착수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55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로드맵: 근시계(3~12개월) — 역량 확보와 검증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 ~ 12개월 (근시계)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347472" cy="34747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50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IATF 16949 인증 착수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6243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공급망 진입 필수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인증기관 선정 + 심사 일정 수립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297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91256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127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PoC (50MPa+)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4655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유리-금속 이종접합 강도 검증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57MPa 수준 재현성 확보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13048"/>
            <a:ext cx="4297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032504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32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68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모니터링 기술 평가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3068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ICALEO / Photonics West 전시 조사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모니터링 솔루션 벤치마크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4297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873752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73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8097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Omniply 결과 모니터링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148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팹 평가 결과 추적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 전략 재조정 트리거 판단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95544"/>
            <a:ext cx="4297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715000"/>
            <a:ext cx="347472" cy="3474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715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650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LIFT 사전 조사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5989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트리거(100ppm) 모니터링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전환 조건 사전 정의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148840"/>
            <a:ext cx="5696712" cy="4206240"/>
          </a:xfrm>
          <a:prstGeom prst="roundRect">
            <a:avLst>
              <a:gd name="adj" fmla="val 2174"/>
            </a:avLst>
          </a:prstGeom>
          <a:solidFill>
            <a:srgbClr val="F1F5F9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286000"/>
            <a:ext cx="5330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근시계 핵심 판단 기준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26480" y="2926080"/>
            <a:ext cx="109728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IATF 착수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154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시작 안 하면 EV 납품 타이밍 놓침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520440"/>
            <a:ext cx="109728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50MPa+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37490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시 접착제 대비 우위 없음 — 중단 판단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4114800"/>
            <a:ext cx="109728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평가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55080" y="4343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파일럿→양산 갭 검증 후 투자 수준 결정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4709160"/>
            <a:ext cx="109728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Omniply 결과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55080" y="4937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시 LLO 전략 전반 재검토 필요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0" y="5303520"/>
            <a:ext cx="109728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100ppm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55080" y="5532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미달 시 LIFT 투자 보류 유지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55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로드맵: 중기(12~36개월) — 양산 공급과 플랫폼 구축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 ~ 36개월 (중기)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11064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286000"/>
            <a:ext cx="219456" cy="219456"/>
          </a:xfrm>
          <a:prstGeom prst="ellipse">
            <a:avLst/>
          </a:prstGeom>
          <a:solidFill>
            <a:srgbClr val="4A7B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2505456"/>
            <a:ext cx="18288" cy="2926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98064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98064"/>
            <a:ext cx="210312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용접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양산 개시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566160"/>
            <a:ext cx="18836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그린+파이버 하이브리드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IATF 인증 완료 후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 ES/삼성SDI 납품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4952" y="2286000"/>
            <a:ext cx="219456" cy="219456"/>
          </a:xfrm>
          <a:prstGeom prst="ellipse">
            <a:avLst/>
          </a:prstGeom>
          <a:solidFill>
            <a:srgbClr val="00D4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5536" y="2505456"/>
            <a:ext cx="18288" cy="2926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2798064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798064"/>
            <a:ext cx="210312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2852928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GLLO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스케일업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52928" y="3566160"/>
            <a:ext cx="18836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6G+ 패널 라인 적용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탄화 잔류물 완전 해결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캐리어 재사용 경제성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39512" y="2286000"/>
            <a:ext cx="219456" cy="219456"/>
          </a:xfrm>
          <a:prstGeom prst="ellipse">
            <a:avLst/>
          </a:prstGeom>
          <a:solidFill>
            <a:srgbClr val="FFB0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0096" y="2505456"/>
            <a:ext cx="18288" cy="2926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2798064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798064"/>
            <a:ext cx="210312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폐루프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3566160"/>
            <a:ext cx="18836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인라인 모니터링 양산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파라미터 자동 보정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예지 보전 통합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34072" y="2286000"/>
            <a:ext cx="219456" cy="21945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34656" y="2505456"/>
            <a:ext cx="18288" cy="2926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2798064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2798064"/>
            <a:ext cx="21031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7242048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LIFT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 착수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42048" y="3566160"/>
            <a:ext cx="18836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확인 시 착수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수율 100ppm 달성 조건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투자 의사결정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28632" y="2286000"/>
            <a:ext cx="219456" cy="21945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29216" y="2505456"/>
            <a:ext cx="18288" cy="2926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2798064"/>
            <a:ext cx="2103120" cy="3383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0" y="2798064"/>
            <a:ext cx="21031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9436608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USP 이종접합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고객 적용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36608" y="3566160"/>
            <a:ext cx="188366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 성공 후 고객사 적용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57MPa 이상 재현성 확보</a:t>
            </a:r>
            <a:endParaRPr lang="en-US" sz="11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이종접합 포트폴리오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55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역방향 의사결정 가이드 — 투자하지 않아야 하는 조건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조건이 충족되면 해당 영역 투자를 즉시 중단하라</a:t>
            </a:r>
            <a:endParaRPr lang="en-US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45720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762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영역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투자하지 않아야 하는 조건 (중단 트리거)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LIFT 장비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2027년 말 Apple Watch에 MicroLED 미탑재 + 수율 99.99% 미달 지속 → 장비 투자 전면 보류, 2029 재평가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배터리 이종금속 용접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LFP 배터리 비중 40% 이하 유지 + 접착 본딩(Structural Adhesive)이 용접 대체 가능성 입증 → PoC 규모 축소, IATF 착수 연기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폴더블 크리즈프리 드릴링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Apple iPhone Fold 2026 출시 취소 또는 Samsung Z Fold 8 판매 목표 50% 미달 → 레이저 드릴링 장비 투자 보류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인라인 모니터링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파일럿 공정에서 불량률 감소가 30% 미만이거나 파일럿→양산 전환 시 성능 재현 실패 → 추가 투자 전면 재검토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USP 유리-금속 접합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접착제 솔루션이 50MPa+ 강도 달성 + 비용 우위 입증 → 레이저 접합 PoC 중단, 고부가 응용(마이크로 가공)으로 전환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55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신뢰도 매트릭스 — 판단별 근거 강도 평가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91672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판단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0" y="17373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출처 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0" y="17373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원문 확인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0" y="17373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신뢰도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0" y="1737360"/>
            <a:ext cx="1856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LLO는 폴더블 OLED 양산 공정의 필수 공정이다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0" y="2194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3960" y="2194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84080" y="2148840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복수 원문 확인, 양산 기준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11091672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07208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 배터리 레이저 용접 시장 $3.2B (2025)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85292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285292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23960" y="285292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0" y="2807208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Allied/MarketsandMarkets 복수 출처. Repair Pass 수정값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419856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65576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 폴더블 iPhone 2026 출시 + 15M+ 패널/년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511296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0" y="351129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23960" y="351129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★★★★☆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3465576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Apple 공급망 추적 + Samsung Display 확인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078224"/>
            <a:ext cx="11091672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23944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USP 유리-금속 접합 강도 57.7MPa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4169664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416966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416966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★★★☆☆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0" y="4123944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단일 연구 논문. 재현성 미확인. 출처 단일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736592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78231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상용화 2027~2028 (기준 시나리오)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4828032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482803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23960" y="482803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★★☆☆☆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84080" y="4782312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역사적 지연 패턴 반영 필요. Critic 하향 교정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5394960"/>
            <a:ext cx="11091672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44068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인간형 로봇 하모닉 드라이브 레이저 가공 전환 가능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548640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0" y="54864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823960" y="54864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★☆☆☆☆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784080" y="5440680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근거 극히 부족. CNC 주도 현실과 상충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6053328"/>
            <a:ext cx="11091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6099048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공정 모니터링 98% 불량 감지 정확도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49440" y="6144768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63840" y="614476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823960" y="614476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★★☆☆☆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784080" y="6099048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개별 파일럿 기반. 양산 환경 재현 미확인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2" y="0"/>
            <a:ext cx="73152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34107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8FAFC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2103120"/>
            <a:ext cx="6153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추적하고, 지금 무엇을 결정할 것인가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0" y="3246120"/>
            <a:ext cx="6153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전환 트리거 · 기술 신호 레지스터 · 최종 권고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7가지 전환 트리거 — 이 사건이 발생하면 전략을 조정하라</a:t>
            </a:r>
            <a:endParaRPr lang="en-US" sz="2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75488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690872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트리거 사건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모니터링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 조정 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Apple iPhone Fold 판매 &gt;10M/년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Apple 출하량 분기 보고, 공급망 추적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LLO/폴더블 드릴링 라인 증설 검토 즉시 착수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MicroLED 수율 &lt;100ppm 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Samsung/Apple MicroLED 파일럿 결과 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LIFT 장비 투자 전환 실행, R&amp;D 인력 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Omniply 팹 평가 결과 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학술지/특허/공급망 발표 모니터링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LLO 전략 재조정 — Omniply 대체 시나리오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중국 USP 레이저 양산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Raycus/JPT USP 제품 스펙 발표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고정밀 응용 소싱 이원화 + 자체 기술 차별화 가속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EU REACH 규제 발효 (화학 에칭 제한)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EU 공식 발표, 반도체/디스플레이 업계 대응 동향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레이저 클리닝/에칭 로드맵 수립 — 관망→제한적 실험 전환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그린 레이저 원가 파이버 대비 &lt;1.3배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IPG/TRUMPF/nLIGHT 그린 레이저 가격 추이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 이종금속 용접 그린 레이저 표준 전환 가속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양산 공정 불량률 50% 감소 사례 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ICALEO, Photonics West 발표, 고객사 공개 사례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인라인 모니터링 파일럿 즉시 착수 — 관망 종료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55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신호 레지스터 — 상위 7개 신호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408676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502920" cy="25603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44942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Apple 폴더블 iPhone 2026 확정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76272"/>
            <a:ext cx="513435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강도: 강 | 불확실성: 낮음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Samsung Display 독점 공급 확인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15M+ 패널/년 → LLO/드릴링 수요 직결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6459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1636" y="1645920"/>
            <a:ext cx="5408676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8796" y="1783080"/>
            <a:ext cx="502920" cy="2560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368796" y="17830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63156" y="1755648"/>
            <a:ext cx="44942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중국 IPG 파이버 레이저 추월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8796" y="2176272"/>
            <a:ext cx="513435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강도: 강 | 불확실성: 낮음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IPG -22% YoY, Raycus 점유율 30%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시장 구조 변화 확정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5408676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297680"/>
            <a:ext cx="502920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976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4270248"/>
            <a:ext cx="44942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 레이저 EV 용접 채택 가속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690872"/>
            <a:ext cx="513435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강도: 강 | 불확실성: 중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TRUMPF/Coherent 신제품 출시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LFP 비중 확대로 구리 흡수율 문제 심화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1636" y="416052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1636" y="4160520"/>
            <a:ext cx="5408676" cy="64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68796" y="4297680"/>
            <a:ext cx="502920" cy="25603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68796" y="42976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63156" y="4270248"/>
            <a:ext cx="44942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수율 병목 미해소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68796" y="4690872"/>
            <a:ext cx="513435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강도: 강 | 불확실성: 중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99.99% vs 현재 99.5~99.8%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투자 관망 유지 트리거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199632"/>
            <a:ext cx="1109167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6291072"/>
            <a:ext cx="411480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291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6291072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AI+센서 공정 자율화 진입 — 수율 향상 실증 사례 증가 (강/중)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45864" y="6291072"/>
            <a:ext cx="411480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4245864" y="6291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3064" y="6291072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 REACH 화학 에칭 규제 초안 공개 — 레이저 클리닝 대체 수요 촉발 (중/중)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43088" y="6291072"/>
            <a:ext cx="411480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7943088" y="62910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00288" y="6291072"/>
            <a:ext cx="3194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MicroLED 장비 시장 $4.5B (2035) 전망 — 장기 최대 기회이나 타임라인 불확실 (강/높음)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55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회사 관점 최종 권고 — 4가지 행동 범주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4A7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408676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1005840" cy="2743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베팅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764792"/>
            <a:ext cx="3991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용접 + 폴더블 드릴링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5079492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확실한 수익 기회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EV: PoC 제안 즉시 착수, IATF 인증 시작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폴더블: 드릴링 역량 평가 + Fine M-Tec 분석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이번 분기 예산과 인력 배정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1636" y="1645920"/>
            <a:ext cx="5408676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8796" y="1783080"/>
            <a:ext cx="100584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6368796" y="1783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제한적 실험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66076" y="1764792"/>
            <a:ext cx="3991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GLLO + USP 접합 + AI 모니터링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6228" y="2148840"/>
            <a:ext cx="5079492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차별화 R&amp;D — 소규모 시작, 결과 보고 의무화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GLLO: 그래핀 파운드리 파트너십 탐색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USP: 50MPa+ PoC 목표 설정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AI: 기술 평가 후 파일럿 범위 결정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5408676" cy="64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297680"/>
            <a:ext cx="1005840" cy="2743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97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4279392"/>
            <a:ext cx="3991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MicroLED LIFT + 레이저 클리닝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4663440"/>
            <a:ext cx="5079492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대기 — 투자하지 않되 모니터링 지속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MicroLED: 수율 100ppm 달성 확인 시 재검토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클리닝: EU REACH 규제 발효 시 로드맵 수립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분기별 트리거 체크 의무화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1636" y="4160520"/>
            <a:ext cx="5408676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368796" y="4297680"/>
            <a:ext cx="100584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6368796" y="4297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66076" y="4279392"/>
            <a:ext cx="3991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로봇 하모닉 드라이브 레이저 가공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96228" y="4663440"/>
            <a:ext cx="5079492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부족 — 2028년까지 투자 보류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CNC 주도 현실, 레이저 전환 근거 미확인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Tesla Optimus 양산 지연 반복 패턴 주의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2028년 재평가, 그 전까지 관망도 불필요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55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029200" cy="5029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50876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91640"/>
            <a:ext cx="9445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3가지 질문으로 마무리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371600" y="2487168"/>
            <a:ext cx="9445752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788920"/>
            <a:ext cx="914400" cy="36576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시작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2743200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 배터리 이종금속 용접 PoC를 이번 분기 시작하라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23160" y="3246120"/>
            <a:ext cx="8394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LG에너지솔루션 / 삼성SDI PoC 제안서 작성 + IATF 16949 인증기관 선정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4023360"/>
            <a:ext cx="91440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추적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3977640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7가지 전환 트리거를 분기별 모니터링하라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423160" y="4480560"/>
            <a:ext cx="8394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Apple Fold 판매 · MicroLED 수율 · Omniply 결과 · 그린레이저 원가 추이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5257800"/>
            <a:ext cx="914400" cy="3657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257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멈춤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5212080"/>
            <a:ext cx="8394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로봇 하모닉 드라이브 투자는 2028년까지 보류하라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423160" y="5715000"/>
            <a:ext cx="8394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근거 미확인 영역에 예산 투입은 기회비용 손실 — 2028년 재평가 일정 등록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6400800"/>
            <a:ext cx="9445752" cy="274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649224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기술 미래 로드맵  |  2026.03.25  |  Strategy Research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2026-03-25T15:08:27Z</dcterms:created>
  <dcterms:modified xsi:type="dcterms:W3CDTF">2026-03-25T15:08:27Z</dcterms:modified>
</cp:coreProperties>
</file>