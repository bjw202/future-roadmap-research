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제조업의 다음 10년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디지털트윈 · 온톨로지 · AI 통합 전략 로드맵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 보고  |  2026년 3월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줄로 요약하면: 기반 → 실험 → 전환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병목은 기술이 아니라 데이터·조직·표준이다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194560"/>
            <a:ext cx="102229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64%가 실험 단계에 머물러 있으며, 실질 성공률은 33%에 불과합니다. 기술보다 데이터 품질과 조직 통합이 우선입니다.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246120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순서는 "데이터 → 의미 → 지능"이다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749040"/>
            <a:ext cx="102229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 인프라(IT/OT 통합) 없이 AI를 도입하면 실패합니다. 단계별 접근만이 양쪽 리스크를 모두 관리합니다.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4800600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베팅할 것은 딱 2가지뿐이다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5303520"/>
            <a:ext cx="102229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거버넌스와 2세대 디지털트윈 고도화. 나머지는 제한적 실험 또는 관망이 적절합니다.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왜 지금 이 주제가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중요한가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918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기술이 동시에 성숙하면서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제조업의 구조적 전환이 시작되고 있습니다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디지털트윈 시장이 연 48%씩 성장하고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$21B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2025년 시장 규모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2030년 $150B 전망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48%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연평균 성장률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CAGR (MarketsandMarkets)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1,000%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183880" y="2743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5년간 채택 증가율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2020~2025 제조업 기준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91672" cy="2011680"/>
          </a:xfrm>
          <a:prstGeom prst="roundRect">
            <a:avLst>
              <a:gd name="adj" fmla="val 3636"/>
            </a:avLst>
          </a:prstGeom>
          <a:solidFill>
            <a:srgbClr val="FFF8E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⚠  수치 해석 유의사항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시장 정의에 따라 $2.25B~$150B까지 70배 편차 — 투자 의사결정에 그대로 사용 불가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성장률은 초기 채택 가속기를 반영한 것으로, S-curve 둔화가 발생할 가능성 높음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보수적 정의(DT 전용 소프트웨어)로는 $2~5B 수준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기술은 각각이 아닌, 결합할 때 가치가 폭발한다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디지털트윈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공장·설비의 실시간 가상 복제본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상태를 반영하고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미래를 시뮬레이션합니다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"무엇이 일어나고 있는가"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73736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데이터에 의미와 관계를 부여하는 구조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장비·공정·부품 간의 관계를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기계가 이해할 수 있게 만듭니다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"이것이 무엇을 의미하는가"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73736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/ 생성AI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240280"/>
            <a:ext cx="3108960" cy="34290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데이터에서 판단과 행동을 도출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감지, 예측, 최적화,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대화를 실현합니다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"무엇을 해야 하는가"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0350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통찰: 온톨로지 없는 디지털트윈은 데이터 창고에 불과하고, AI 없는 온톨로지는 행동이 없는 사전에 불과합니다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선도 기업은 이미 구체적 성과를 증명했다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BMW iFACTORY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0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양산 2년 전 가상 공장 가동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 계획 비용 30% 절감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NVIDIA Omniverse 기반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73736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Boeing T-7A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3108960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설계~초도비행 36개월 단축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조립 공수 80% 감소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초도 품질 75% 향상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73736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Siemens 양조장 15곳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240280"/>
            <a:ext cx="3108960" cy="18745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 디지털트윈 적용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50% 감소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 15~20% 절약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FFF0F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634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⚠  이 사례를 그대로 기대해서는 안 됩니다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위 사례는 모두 항공·자동차 — 제품 단가 수억~수천억 원, 센서 밀도 극도로 높음, 전문 인력 풍부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 제조업(식품, 금속, 기계)은 구조적으로 다름 → ROI 기대치를 50~70% 하향 조정 필요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식음료 산업 실증 사례: 비용 15% 절감, 운영 효율 25% 향상 수준이 현실적 기대치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그러나 현실은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기대와 다르다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918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화려한 사례 뒤에 숨겨진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구조적 실패 패턴을 직시해야 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실질 성공률은 33%에 불과하다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64%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파일럿 함정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프로젝트 중 6개 이상이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실험실을 벗어나지 못합니다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53912" y="17373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153912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≈33%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153912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실질 ROI 달성률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8232" y="32918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"ROI 92%" 보도는 성공 기업만의 수치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탈출률(36%)을 곱하면 실질 약 33%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1672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성공과 실패를 가르는 차이는 기술이 아닙니다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스케일업 방법론(KPI 정의, 단계별 확장 기준)을 보유한 기업만 파일럿을 넘김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경영진 스폰서십과 IT/OT 통합 조직이 없으면 조직 저항에 매몰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데이터 품질 기반 없이 AI를 얹으면 "쓰레기 위에 쌓은 지능"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병목은 기술이 아니라 데이터·조직·표준에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품질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기업의 50%가 최대 장벽으로 지목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결측, 라벨 부재, 레거시 장비 비호환이 복합적으로 작용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73736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73736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7452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조직·문화 충돌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24028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비용의 70%가 인력에 집중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현장(OT)의 "안정 우선"과 IT의 "혁신 우선"이 구조적으로 충돌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1480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5196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표준화 부재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벤더별 독자 데이터 모델 난립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AAS, OPC UA 등 표준이 존재하나 실제 기업 구현은 초기 단계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14800"/>
            <a:ext cx="540867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1480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25196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인력 부족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17720"/>
            <a:ext cx="5042916" cy="14173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설계, OT-IT 연결 전문가 극소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교육만으로 해소 어려운 구조적 부족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산업과 규모에 따라 출발선이 완전히 다르다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현재 성숙도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현실적 기대 ROI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병목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권고 진입점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항공우주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3세대 (자율 최적화 진입)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인증·규제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고급 AI + 인지 DT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2~3세대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공급망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 + 코파일럿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화학·에너지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2세대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규제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예지보전 + 공정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식음료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1~2세대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낮~중간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밀도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DT + 데이터 수집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기계·금속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1세대 이하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불확실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MES 자체 부재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기반 구축부터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중소 제조업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0~1세대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장기적 (SaaS 경로)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여력·인력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SaaS 구독형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한국 제조업의 99%는 중소기업입니다. 대기업 사례를 그대로 적용하면 실패합니다.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미래는 어떤 방향으로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전개되는가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918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불확실성이 높은 만큼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시나리오별 대비가 핵심입니다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성숙 속도와 표준화 속도가 미래를 결정한다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표준화 빠름 →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← 표준화 느림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빠름 ↑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느림 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057400"/>
            <a:ext cx="4389120" cy="2011680"/>
          </a:xfrm>
          <a:prstGeom prst="roundRect">
            <a:avLst>
              <a:gd name="adj" fmla="val 4545"/>
            </a:avLst>
          </a:prstGeom>
          <a:solidFill>
            <a:srgbClr val="E8FAF5"/>
          </a:solidFill>
          <a:ln/>
        </p:spPr>
      </p:sp>
      <p:sp>
        <p:nvSpPr>
          <p:cNvPr id="9" name="Shape 7"/>
          <p:cNvSpPr/>
          <p:nvPr/>
        </p:nvSpPr>
        <p:spPr>
          <a:xfrm>
            <a:off x="2121408" y="2057400"/>
            <a:ext cx="43525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A: 통합 가속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20~25%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6060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인지 DT 2027~28 상용화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기술이 빠르게 수렴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2057400"/>
            <a:ext cx="4389120" cy="2011680"/>
          </a:xfrm>
          <a:prstGeom prst="roundRect">
            <a:avLst>
              <a:gd name="adj" fmla="val 4545"/>
            </a:avLst>
          </a:prstGeom>
          <a:solidFill>
            <a:srgbClr val="FFF0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876288" y="2057400"/>
            <a:ext cx="4352544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B: 플랫폼 전쟁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696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35~40%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6060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벤더 종속 경쟁 심화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유력한 시나리오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03120" y="4251960"/>
            <a:ext cx="4389120" cy="2011680"/>
          </a:xfrm>
          <a:prstGeom prst="roundRect">
            <a:avLst>
              <a:gd name="adj" fmla="val 4545"/>
            </a:avLst>
          </a:prstGeom>
          <a:solidFill>
            <a:srgbClr val="EEF2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121408" y="4251960"/>
            <a:ext cx="43525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C: 표준 선행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15~20%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48006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인프라 먼저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검증된 영역 한정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4251960"/>
            <a:ext cx="4389120" cy="2011680"/>
          </a:xfrm>
          <a:prstGeom prst="roundRect">
            <a:avLst>
              <a:gd name="adj" fmla="val 4545"/>
            </a:avLst>
          </a:prstGeom>
          <a:solidFill>
            <a:srgbClr val="FFF8E1"/>
          </a:solidFill>
          <a:ln/>
        </p:spPr>
      </p:sp>
      <p:sp>
        <p:nvSpPr>
          <p:cNvPr id="24" name="Shape 22"/>
          <p:cNvSpPr/>
          <p:nvPr/>
        </p:nvSpPr>
        <p:spPr>
          <a:xfrm>
            <a:off x="6876288" y="4251960"/>
            <a:ext cx="43525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D: 점진적 진화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6696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20~25%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48006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 DT 주류 유지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회의론 확산 가능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유력한 시나리오: 3개 플랫폼이 생태계를 지배한다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43814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Siemens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수명주기 통합자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08960" cy="3246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PLM 시장 1위 (~5% 점유)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Altair 인수($10B)로 시뮬레이션 내재화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NVIDIA 연합으로 물리 AI 통합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Industrial Copilot으로 GenAI 선점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737360"/>
            <a:ext cx="343814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NVIDIA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아래의 플랫폼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3108960" cy="3246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Omniverse + OpenUSD로 인프라 독점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모든 산업 SW 벤더와 파트너십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GPU + 물리 시뮬레이션 대체재 없음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Isaac Sim으로 로봇/공장 DT 기반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737360"/>
            <a:ext cx="343814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74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Palantir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운영 온톨로지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240280"/>
            <a:ext cx="3108960" cy="3246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Foundry 온톨로지 엔진 차별화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데이터→실세계 객체 매핑 독보적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Snowflake·Databricks 통합 확보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에이전트의 실행 계층 장악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플랫폼 선택이 10년의 전략적 종속을 결정합니다. 데이터 이동성(portability) 확보가 생존 조건입니다.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103120"/>
            <a:ext cx="9445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“온톨로지는 데이터 정리 기술이 아닙니다.</a:t>
            </a:r>
            <a:endParaRPr lang="en-US" sz="2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AI 에이전트가 공장을 이해하는 언어입니다.”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2062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관점 전환이 투자 우선순위를 결정합니다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470916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기존 관점: 데이터 통합 도구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51663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이종 시스템 간 형식 변환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기존 미들웨어로도 가능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투자 우선순위: 낮음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470916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새로운 관점: AI의 운영 언어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516636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AI가 "장비, 공정, 관계"를 이해하는 구조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AI 에이전트의 행동 범위를 정의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투자 우선순위: 전략적 핵심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01168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우리는 무엇을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해야 하는가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9184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단계적 접근이 과소 투자와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과대 투자 리스크를 모두 관리합니다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통합은 "데이터 → 의미 → 지능" 순서를 따른다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80136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~ 3개월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0: 기반 정비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IT/OT 통합 조직 구성 · 데이터 품질 진단 · OPC UA 게이트웨이 배포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715768"/>
            <a:ext cx="210312" cy="21031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 ~ 12개월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1: 연결과 예측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 DT 고도화(예지보전) · 기본 ML 적용 · AAS 서브모델 파일럿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630168"/>
            <a:ext cx="210312" cy="2103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 ~ 18개월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2: 의미 부여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온톨로지/KG 파일럿 · AI 코파일럿 PoC · UNS 아키텍처 구축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38912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544568"/>
            <a:ext cx="210312" cy="21031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 ~ 24개월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7091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3: 지능 확장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98348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3세대 DT 전환 · KG 확장 · AI 에이전트 제한적 실행 권한 부여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30352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5458968"/>
            <a:ext cx="210312" cy="21031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49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24 ~ 36개월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6235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4: 인지 통합 (선도 기업)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89788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4세대 인지 DT PoC · AI 자율 의사결정(Human-in-the-loop 필수)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7가지 옵션 중 지금 베팅할 것은 2가지뿐이다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 옵션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거버넌스 + IT/OT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베팅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시나리오에서 유효. 이것 없이는 어떤 투자도 무효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2세대 DT 고도화 (예지보전)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지금 베팅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검증된 ROI (비용 25~40% 절감). 파일럿→스케일업 전환 집중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코파일럿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제한적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낮~중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 준비 완료이나 벤더 종속·환각 리스크 미검증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AAS/OPC UA 표준 인프라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제한적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 규제 방향 명확, 시행 속도는 불확실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온톨로지/KG 파일럿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제한적 실험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 전략 가치 높으나 단기 ROI 불투명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인지 DT (4세대) PoC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환각·규제 미해소. 2027~28 재평가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없는 빅뱅 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64% 파일럿 함정. 단계적 검증 없으면 실패 확률 극도로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5가지 신호가 전략 방향을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4039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3736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 환각률 급락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3148279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 벤치마크에서 0.1% 이하 달성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인지 DT 투자를 "관망"에서 "실험"으로 전환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737360"/>
            <a:ext cx="3514039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73736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7452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EU 디지털 제품 여권 확대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9879" y="2240280"/>
            <a:ext cx="3148279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배터리(2026) → 전자기기(2027) 확산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AAS/OPC UA 표준 인프라 투자 즉시 확대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737360"/>
            <a:ext cx="3514039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73736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7452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DT 파일럿 성공률 개선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8238" y="2240280"/>
            <a:ext cx="3148279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64% 함정이 50% 이하로 개선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2세대 DT 스케일업 투자 확대 근거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9768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대형 AI 제조 사고 발생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5042916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환각/오판에 의한 안전 사고 보도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 자율 제어 전략 전면 재검토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4160520"/>
            <a:ext cx="5408676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14516" y="429768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독점 신호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4516" y="4663440"/>
            <a:ext cx="5042916" cy="14630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Siemens/Palantir 중 하나가 60%+ 장악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플랫폼 종속 vs 대안 확보 의사결정 필요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틀리기 쉬운 전제와 그때 잃는 것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틀릴 수 있는 전제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왜 틀릴 수 있는가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틀릴 경우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환각이 2~3년 내 미해결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OpenAI/Anthropic 발전 속도 초과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PINN이 환각을 구조적으로 억제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인지 DT 관망이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큰 기회비용 발생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품질이 핵심 병목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GenAI 합성 데이터 + 자동 정제가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문제를 우회할 수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거버넌스 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 ROI 하락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표준화가 느릴 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EU DPP + 중국 참여로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수렴이 예상보다 빠를 수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종속 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불필요해짐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DT 시장 고성장 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하이프 정점 이후 시장 재편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경기 침체 시 투자 위축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투자 계획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축소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1208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비대칭 리스크 판단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과소 투자 시 최악: 경쟁사가 30~50% 비용 우위 확보 → 시장 점유율 회복 불가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과대 투자 시 최악: 수백억 원 매몰 비용 → 경영진 디지털 불신 → 5년간 전환 동력 상실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점진적·단계적 "옵션 가치" 접근이 양쪽 리스크를 모두 관리하는 최선의 전략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기반을 먼저, 실험은 신중하게, 종속은 피하라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거버넌스와 IT/OT 통합부터 시작하십시오. 이것이 모든 시나리오에서 유일한 "후회 없는 투자"입니다.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834640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2세대 디지털트윈(예지보전)은 지금 스케일업 가능한 검증된 영역입니다. 파일럿을 넘기는 방법론에 집중하십시오.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840480"/>
            <a:ext cx="10222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종속은 피하되, 핵심 트리거를 모니터링하며 시나리오별 대응을 준비하십시오.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 내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데이터 품질 현황 진단 착수  |  </a:t>
            </a:r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 내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IT/OT 통합 TF 구성  |  </a:t>
            </a:r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내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플랫폼 벤더 3곳 비교 평가 완료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2026-03-25T00:01:44Z</dcterms:created>
  <dcterms:modified xsi:type="dcterms:W3CDTF">2026-03-25T00:01:44Z</dcterms:modified>
</cp:coreProperties>
</file>