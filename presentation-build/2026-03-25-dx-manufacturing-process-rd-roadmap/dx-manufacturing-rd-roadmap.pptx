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860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시대, 공정 R&amp;D 조직은 어디로 가야 하는가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DX사업부 제조공정 개발 조직의 전략 방향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Research Team  |  2026.03.25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이야기의 핵심: 5가지 판단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 이미 준비됐다 — 진짜 문제는 다른 곳에 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경쟁사는 이미 움직이고 있다 — 우리의 창은 좁아지고 있다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DX만의 구조적 제약을 직시해야 한다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정비와 파일럿부터 시작하라 — 전사 일괄 전환은 금물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212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도구보다 사람이 먼저다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바뀌고 있는가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제조 공정의 설계, 검증, 최적화 방식을 근본적으로 바꾸고 있다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제조 시장은 3년 안에 3배로 커진다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011680"/>
            <a:ext cx="334670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$438억 → $1,539억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AI 제조 시장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2024→2030, CAGR 23%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0248" y="2011680"/>
            <a:ext cx="334670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$34억 → $188억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389120" y="3337560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트윈 시장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2024→2034, CAGR 18.6%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3568" y="2011680"/>
            <a:ext cx="334670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$4.7억 → $50억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092440" y="3337560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 제조 시장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9244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2026→2034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MarketsandMarkets, Grand View Research, IDC (2024~2025)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7가지 기술이 공정 R&amp;D를 바꾸고 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 트윈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제품을 만들기 전에 컴퓨터에서 먼저 만들어보는 것. 시뮬레이션 시간 70% 단축. 지금 바로 쓸 수 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공정 최적화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제조 조건을 AI가 찾아준다. 기존 실험 횟수를 절반 이하로 줄일 수 있다. 가장 성숙한 기술.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 AI (Materials Informatics)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소재를 AI가 설계한다. 아직 실험실 단계이지만, 2~3년 후 판도가 바뀔 수 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로보틱스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조립을 로봇이 대신한다. 위치 정확도 70% 향상, 에너지 38% 절감. 삼성도 2030 로봇 전략 발표.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기술마다 '지금 쓸 수 있는 것'과 '아직 먼 것'이 다르다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645920"/>
                <a:gridCol w="1645920"/>
                <a:gridCol w="2587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성숙도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TV/가전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시작?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트윈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공정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생성적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금형/지그 한정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 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Physics-ML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로보틱스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대규모 AI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아직 이름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삼성도 2030 AI Factory를 선언했다 — 그런데 공정 R&amp;D는?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2026.03 MWC: 2030년까지 전 공장 AI-Driven Factory 전환 공식 발표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8775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NVIDIA와 AI Megafactory 협력: 5만+ GPU, Omniverse 디지털 트윈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529584"/>
            <a:ext cx="164592" cy="164592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381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그런데: 이 전략은 '생산 운영' 자동화에 집중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379976"/>
            <a:ext cx="164592" cy="164592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88536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R&amp;D(새로운 제조법을 개발하는 일)에 대한 별도 전략은 아직 보이지 않는다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30368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3892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질문: 공정을 '운영'하는 AI와 공정을 '개발'하는 AI는 다른 문제다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이것이 쉽지 않은가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 충분하다. 진짜 장벽은 데이터, 조직, 그리고 제품 사이클에 있다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병목은 기술이 아니라 3가지 다른 곳에 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데이터가 제각각 흩어져 있다. 47%의 기업이 '데이터 품질'을 AI 실패 1위 원인으로 지목. 데이터 정비 없이 AI 도구를 사도 쓸 수 없다.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엔지니어의 48%가 AI 역량 부족을 호소. 도구는 있는데 쓸 줄 아는 사람이 없다. 도구보다 사람이 먼저다.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제품 사이클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 모델은 1~2년마다 바뀐다. AI가 배우기도 전에 공정이 바뀐다. 반도체나 자동차와 근본적으로 다른 DX만의 제약.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알고리즘은 충분히 발전했다. 이 세 가지 병목을 먼저 풀어야 기술이 작동한다.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DX만의 구조적 제약: 제품 사이클이 AI 학습을 방해한다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공정이 수년간 유지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78040" y="1737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충분히 학습 가능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88920"/>
            <a:ext cx="45720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사이클 3~5년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2834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축적 여유 있음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86200"/>
            <a:ext cx="45720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DX 스마트폰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사이클 1~2년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931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배우기 전에 공정이 바뀜 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4A7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983480"/>
            <a:ext cx="45720" cy="1143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해법: 공정 플랫폼 공통화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4132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제품은 바뀌어도 공통 공정 모듈은 유지. 이것이 안 되면 AI 투자 대비 효과(ROI)를 정당화하기 어렵다.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파일럿이 양산으로 이어지는 비율: 1%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38328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제조 파일럿 → 양산 전환 성공률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MIT NANDA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011680"/>
            <a:ext cx="3383280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38912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GenAI 파일럿 실패율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기술이 아니라 데이터/조직 문제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MIT NANDA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 w="25400">
            <a:solidFill>
              <a:srgbClr val="4A7B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2011680"/>
            <a:ext cx="338328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47%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09244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품질을 AI 실패 1위 원인으로 꼽은 기업 비율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Imubit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경쟁사는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이미 움직이고 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42519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Apple, LG, Foxconn, Bosch, Xiaomi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각자의 방식으로 공정 R&amp;D를 전환 중이다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Apple: 3D 프린팅으로 공정 혁신의 새 기준을 세우다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Watch Ultra 3 케이스 전량을 100% 재활용 티타늄 3D 프린팅으로 양산 (2025)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973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원재료 50% 절감, 연간 400+ 톤 티타늄 절약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9544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환경 목표가 공정 혁신의 강력한 동기로 작동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64592" cy="16459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5935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"한 번만 하는 것이 아니라, 시스템이 작동하는 방식이 되도록 한다" — Apple VP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09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시사점: 공정 R&amp;D가 디자인·환경·공급망의 교차점으로 진화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LG전자: 공정 AI를 만들고, 이제 외부에 팔기 시작했다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146304" cy="146304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Eng.AI 플랫폼: 3D 도면만 넣으면 품질 예측 — 검증 시간 99% 단축 (LG 자체 발표)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05456"/>
            <a:ext cx="146304" cy="146304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32304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생산기술원 내 '스마트팩토리솔루션센터' 신설 (2025 조직개편)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272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스마트팩토리 외판 수주: 2024년 3,000억원 → 2025년 4,000억원 → 2030년 조 단위 목표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146304" cy="146304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221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축적한 제조 데이터 770TB + 특허 1,000건이 핵심 자산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9028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1713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시사점: 공정 역량이 비용이 아니라 수익원이 될 수 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85232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12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주의: 수치는 LG 자체 발표, 독립 검증 없음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글로벌 플레이어들의 공통된 방향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Foxconn + Google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Alphabet 자회사 Intrinsic과 AI 로보틱스 합작법인 설립. 전자 조립 자동화의 표준 인프라를 만들겠다는 야심.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Bosch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2027년까지 AI에 25억 유로(약 3.5조원) 투자. '에이전틱 AI'로 공장을 스스로 판단하는 시스템으로 전환.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Siemens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NVIDIA와 '산업용 AI 운영체제' 공동 개발. 공정 R&amp;D 도구를 만드는 회사에서, 공정 R&amp;D 인프라를 파는 회사로 전환.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Xiaomi / BYD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수직계열화 + AI 다크팩토리. 극한의 자동화로 원가 구조 자체를 재편. 비용 경쟁의 판을 바꾸려 한다.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경쟁사 전환 현황을 한눈에 보면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1920240"/>
                <a:gridCol w="2377440"/>
                <a:gridCol w="1124712"/>
              </a:tblGrid>
              <a:tr h="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투자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위협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소재+공정+환경 교차 혁신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전문조직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LG전자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AI B2B 수익화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스마트팩토리 센터 신설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Foxconn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로보틱스 JV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Intrinsic JV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Bosch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에이전틱 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25억 유로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그룹 AI 표준화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Siemens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트윈 인프라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Altair 인수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Tech Company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Xiaomi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다크팩토리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5년 28조원(R&amp;D 전체)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수직계열화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BYD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수직계열+AI 품질관리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97% 자율운영(자체주장)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다른 산업은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이미 이 길을 걸었다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42519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반도체, 제약, 자동차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이들의 경험에서 성공과 실패의 패턴을 배울 수 있다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성공한 산업들의 공통 경로: 5단계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997964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7647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센서를 연결하고, 실험 데이터를 디지털로 바꾼다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" y="2912364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6974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6791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공정 예측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017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공정에서 AI가 품질을 예측한다 (예: 반도체 가상 계측)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" y="3826764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6118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11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5935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 트윈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3931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공정을 가상으로 만들어, 실험 없이 테스트한다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" y="4741164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5262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262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45079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폐루프 제어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스스로 공정 조건을 조정한다. 실험→분석→최적화 자동화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" y="5655564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406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4406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00200" y="54223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자율 공정 개발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00200" y="5760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가설을 세우고, 실험을 설계하고, 결과를 해석한다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다른 산업에서 가져올 수 있는 것 vs. 없는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가져올 수 있는 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가져올 수 없는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468880"/>
            <a:ext cx="128016" cy="12801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317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반도체의 '가상 계측' 개념 → 조립 품질 예측에 적용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383280"/>
            <a:ext cx="128016" cy="12801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461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자동차의 '가상 실험' → 금형 시뮬레이션에 적용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297680"/>
            <a:ext cx="128016" cy="12801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605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제약의 'QbD(설계 기반 품질)' 개념 → 공정 파라미터 관리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5212080"/>
            <a:ext cx="128016" cy="12801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749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산업의 공통 교훈: 데이터 정비가 반드시 먼저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87084" y="246888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97396" y="23317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벤치마크: '22% 변동 감소'(반도체)를 DX에 그대로 기대하면 안 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7084" y="338328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597396" y="32461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볼륨: 반도체는 웨이퍼당 수백만 데이터 포인트, DX는 훨씬 적다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87084" y="429768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41605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지속 기간: 반도체/제약은 수년간 같은 공정, DX는 1~2년마다 리셋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87084" y="521208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5074920"/>
            <a:ext cx="49514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환경: 제약/항공우주의 인증 프레임워크는 DX에 맞지 않는다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0468" y="1645920"/>
            <a:ext cx="36576" cy="46634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우리는 무엇을 해야 하는가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시나리오, 전략 옵션, 우선순위 — 구체적인 판단과 행동 계획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3가지 시나리오: 보수, 기준, 공격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3090672"/>
                <a:gridCol w="3090672"/>
                <a:gridCol w="3081528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 (25%)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(50%)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공격 (25%)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실패 확산,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정비 3년+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2027년 2~3개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DS 시너지 + 경영진 의지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FM 급진전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NPI 단축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15~20%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리스크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뒤처짐 누적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기회비용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과잉투자/방향 오류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선택적 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단계적: 데이터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→파일럿→확산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전담 조직, DS 협업,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특허 선점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시작할 5가지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공정 데이터 정비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것의 전제. 공정 데이터를 모으고, 정리하고, 표준화한다. EU 규제 대응과 동시에 추진하면 일석이조.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가상 실험 파일럿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비싼 실험을 줄이는 공정부터 시작. 디지털 트윈으로 물리 실험 30~50% 대체 가능. 가장 빠른 ROI.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AI+실험계획 도구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기존에 쓰던 DOE 도구에 AI를 얹는다. Quick Win. 기존 업무 방식을 거의 안 바꿔도 효과.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AI 엔지니어 양성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도구보다 사람이 먼저다. 기존 공정 엔지니어의 AI 역량 교육. 1~2년 격차가 벌어지면 만회 어렵다.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19879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탄소+공정 데이터 통합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 CBAM(2026 시행)·DPP 대응은 필수. 이 투자를 AI 데이터 기반으로 전환하면 규제 비용이 자산이 된다.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10개 전략 옵션의 우선순위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5720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490472"/>
                <a:gridCol w="3200400"/>
              </a:tblGrid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난이도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데이터 인프라 정비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AI의 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⬛ 지금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 DoE 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물리 실험 30~50% 대체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⬛ 지금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AI+DOE 도구 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Quick Win, 워크플로 최소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⬛ 지금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엔지니어 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전환의 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⬛ 지금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탄소-공정 데이터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규제 대응 + AI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⬛ 지금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플랫폼 공통화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ROI의 구조적 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◻ 다음 분기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DS-DX 시너지 탐색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비용/속도 변수 근본 해결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중(정치)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◻ 다음 분기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PIML 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소규모 데이터 환경 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◻ 다음 분기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Materials Informatics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미성숙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 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수익화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역량 미실증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 보류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절대 하지 말아야 할 것들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80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전사 일괄 AI 전환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10680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파일럿→양산 성공률이 1%인 세계에서, 한꺼번에 바꾸는 것은 도박이다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42032"/>
            <a:ext cx="10680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Foundation Model 공정 직접 적용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62072"/>
            <a:ext cx="10680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실험 단계. 기대와 현실의 격차가 크다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46704"/>
            <a:ext cx="10680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외부 플랫폼 전면 의존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66744"/>
            <a:ext cx="10680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NVIDIA/Siemens 도구는 활용하되, 핵심 공정 지식은 반드시 내재화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24528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51376"/>
            <a:ext cx="10680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휴머노이드 로봇 공장 도입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10680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마케팅. 코봇과 AMR이 현실적 선택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956048"/>
            <a:ext cx="10680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없이 AI 도구 구매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276088"/>
            <a:ext cx="10680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47% 기업이 이 실수로 실패했다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로드맵과 다음 단계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0~3개월, 3~12개월, 12~36개월 — 단계별 실행 계획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0~3개월, 3~12개월, 12~36개월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" cy="43891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956816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11096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즉시 (0~3개월)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58568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공정 데이터 현황 진단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AI+DOE 도구 평가 및 파일럿 선정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엔지니어 양성 프로그램 설계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EU 규제-데이터 연계 방안 수립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DS 인프라 공유 비공식 탐색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" y="3419856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74136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근시계 (3~12개월)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721608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2~3개 NPI 공정에서 가상 DoE 파일럿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공정 데이터 표준화 본격 착수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공정 플랫폼 공통화 범위 분석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Physics-ML 파일럿 (열처리/성형)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엔지니어 1기 교육 완료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" y="4882896"/>
            <a:ext cx="210312" cy="210312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837176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중기 (12~36개월)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5184648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핵심 공정 3~5개 양산 적용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디지털 트윈 NPI 가상 커미셔닝 제도화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DS 시너지 시: Omniverse 기반 통합 플랫폼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Materials Informatics PoC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공정 AI 특허 포트폴리오 구축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판단이 틀리면 무엇을 잃는가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과잉 투자 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공정에 과도하게 투자했으나 ROI가 나오지 않으면: 매몰 비용 + 핵심 전통 공정 역량 희석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과소 투자 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늦게 시작하면: Apple·Xiaomi와의 공정 경쟁력 격차 확대. 만회 비용이 기하급수적으로 증가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DS 시너지 실패 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 인프라에 의존했으나 실현 안 되면: 독자 구축 전환 시 2년+ 지연. 별도 대비 필요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공통화 실패 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모듈화 없이 AI 도입하면: 제품마다 모델 재학습. 투자 대비 효과(ROI) 미달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6459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결론: 기술보다 데이터, 도구보다 사람이 먼저다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 R&amp;D 전환은 기술의 문제가 아니라, 데이터·조직·실행의 문제다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944575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기억할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 데이터 정비 → 파일럿 → 확산, 이 순서를 지켜라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 도구를 사기 전에 사람을 키워라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 전사 일괄 전환이 아닌, 작은 성공의 반복이 유일한 길이다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단계: 공정 데이터 현황 진단 착수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2026-03-25T04:20:08Z</dcterms:created>
  <dcterms:modified xsi:type="dcterms:W3CDTF">2026-03-25T04:20:08Z</dcterms:modified>
</cp:coreProperties>
</file>