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신뢰도 (%)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F36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이전 (2023~2024)</c:v>
                  </c:pt>
                  <c:pt idx="1">
                    <c:v>현재 (2025~2026)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</c:v>
                </c:pt>
                <c:pt idx="1">
                  <c:v>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사용률 (%)</c:v>
                </c:pt>
              </c:strCache>
            </c:strRef>
          </c:tx>
          <c:spPr>
            <a:solidFill>
              <a:srgbClr val="4A7BF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F36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이전 (2023~2024)</c:v>
                  </c:pt>
                  <c:pt idx="1">
                    <c:v>현재 (2025~2026)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63</c:v>
                </c:pt>
                <c:pt idx="1">
                  <c:v>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F36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18096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18096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A5568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6576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4400" b="1" spc="-5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AI 개발 도구 시대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600" b="1" spc="-20" kern="0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기술 도약, 산업 파급, 미래 일터 준비 전략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11091672" cy="27432"/>
          </a:xfrm>
          <a:prstGeom prst="rect">
            <a:avLst/>
          </a:prstGeom>
          <a:solidFill>
            <a:srgbClr val="3A406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566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3월 전략 리서치 보고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252B45"/>
          </a:solidFill>
          <a:ln w="12700">
            <a:solidFill>
              <a:srgbClr val="3A40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4572000"/>
            <a:ext cx="3438144" cy="457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68172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85~95%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85800" y="5212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개발자 AI 채택률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457200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252B45"/>
          </a:solidFill>
          <a:ln w="12700">
            <a:solidFill>
              <a:srgbClr val="3A40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15968" y="4572000"/>
            <a:ext cx="3438144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468172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41~46%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434840" y="5212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지원 코드 비율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457200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252B45"/>
          </a:solidFill>
          <a:ln w="12700">
            <a:solidFill>
              <a:srgbClr val="3A40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65008" y="4572000"/>
            <a:ext cx="3438144" cy="457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9" name="Text 17"/>
          <p:cNvSpPr/>
          <p:nvPr/>
        </p:nvSpPr>
        <p:spPr>
          <a:xfrm>
            <a:off x="8183880" y="468172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$128억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183880" y="5212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규모 (2026E)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200400" cy="36576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3464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spc="-5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AI 개발 도구는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spc="-5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어디까지 왔는가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601200" y="5029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0" dirty="0">
                <a:solidFill>
                  <a:srgbClr val="252B45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01</a:t>
            </a:r>
            <a:endParaRPr lang="en-US" sz="9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4년 만에 자동완성에서 멀티에이전트 병렬 실행으로 진화했다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3703320"/>
            <a:ext cx="11091672" cy="4572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91640"/>
            <a:ext cx="2615184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78308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2021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" y="214884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자동완성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487168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Copilot 출시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라인/함수 단위 제안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수락률 ~25~30%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09928" y="363016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4A7BF7"/>
          </a:solidFill>
          <a:ln/>
        </p:spPr>
      </p:sp>
      <p:sp>
        <p:nvSpPr>
          <p:cNvPr id="11" name="Shape 9"/>
          <p:cNvSpPr/>
          <p:nvPr/>
        </p:nvSpPr>
        <p:spPr>
          <a:xfrm>
            <a:off x="1773936" y="3675888"/>
            <a:ext cx="18288" cy="2743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977640"/>
            <a:ext cx="2651760" cy="205740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0712" y="169164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691640"/>
            <a:ext cx="2615184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78308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2023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20440" y="214884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대화형 코딩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2487168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채팅 기반 코딩 지원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AI-native IDE 등장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컨텍스트 확장 8K→100K+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363016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/>
        </p:spPr>
      </p:sp>
      <p:sp>
        <p:nvSpPr>
          <p:cNvPr id="19" name="Shape 17"/>
          <p:cNvSpPr/>
          <p:nvPr/>
        </p:nvSpPr>
        <p:spPr>
          <a:xfrm>
            <a:off x="4636008" y="3675888"/>
            <a:ext cx="18288" cy="2743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0" name="Shape 18"/>
          <p:cNvSpPr/>
          <p:nvPr/>
        </p:nvSpPr>
        <p:spPr>
          <a:xfrm>
            <a:off x="3410712" y="3977640"/>
            <a:ext cx="2651760" cy="205740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169164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91072" y="1691640"/>
            <a:ext cx="2615184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3" name="Text 21"/>
          <p:cNvSpPr/>
          <p:nvPr/>
        </p:nvSpPr>
        <p:spPr>
          <a:xfrm>
            <a:off x="6382512" y="178308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2025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382512" y="214884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에이전틱 코딩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82512" y="2487168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멀티파일 자율 편집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SWE-bench 70%→80%+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7시간 자율 작업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34072" y="363016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/>
        </p:spPr>
      </p:sp>
      <p:sp>
        <p:nvSpPr>
          <p:cNvPr id="27" name="Shape 25"/>
          <p:cNvSpPr/>
          <p:nvPr/>
        </p:nvSpPr>
        <p:spPr>
          <a:xfrm>
            <a:off x="7498080" y="3675888"/>
            <a:ext cx="18288" cy="27432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8" name="Shape 26"/>
          <p:cNvSpPr/>
          <p:nvPr/>
        </p:nvSpPr>
        <p:spPr>
          <a:xfrm>
            <a:off x="6272784" y="3977640"/>
            <a:ext cx="2651760" cy="205740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34856" y="169164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53144" y="1691640"/>
            <a:ext cx="2615184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9244584" y="178308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2026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244584" y="2148840"/>
            <a:ext cx="2432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멀티에이전트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244584" y="2487168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병렬 에이전트 실행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Cursor 10~20개 동시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코드베이스 전체 조율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296144" y="363016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5" name="Shape 33"/>
          <p:cNvSpPr/>
          <p:nvPr/>
        </p:nvSpPr>
        <p:spPr>
          <a:xfrm>
            <a:off x="10360152" y="3675888"/>
            <a:ext cx="18288" cy="274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6" name="Shape 34"/>
          <p:cNvSpPr/>
          <p:nvPr/>
        </p:nvSpPr>
        <p:spPr>
          <a:xfrm>
            <a:off x="9134856" y="3977640"/>
            <a:ext cx="2651760" cy="205740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72784" y="411480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72784" y="4114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SWE-bench 70% 달성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134856" y="411480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34856" y="4114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SWE-bench 80%+ 돌파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62636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Claude Opus 4.5 기준 SWE-bench 80.9% (2025.11) | 출처: Pragmatic Engineer 2026-03, neurycode.com 2026-01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28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시장 3강이 코딩 AI 시장의 70%를 장악하고 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039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91640"/>
            <a:ext cx="3477463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GitHub Copilot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148279" cy="22402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사용자 2,000만 명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Fortune 100의 90% 채택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ARR $20억 이상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엔터프라이즈 배포 표준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TechCrunch 2025-07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6999" y="1691640"/>
            <a:ext cx="3514039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55287" y="1691640"/>
            <a:ext cx="3477463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4519879" y="187452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Cursor (Anysphere)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19879" y="2194560"/>
            <a:ext cx="3148279" cy="22402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초 ARR $20억 도달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Fortune 500의 절반 이상 사용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Series C 밸류에이션 $99억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Panto AI 2026, Cursor 공식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5358" y="1691640"/>
            <a:ext cx="3514039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43646" y="1691640"/>
            <a:ext cx="3477463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8308238" y="1874520"/>
            <a:ext cx="3148279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Claude Code (Anthropic)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08238" y="2194560"/>
            <a:ext cx="3148279" cy="22402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출시 6개월 내 ARR $10억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사용률 75% (Copilot 35%, Cursor 42%)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선호도 46% — 업계 1위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Pragmatic Engineer 2026-03 (N=900+)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1091672" cy="1143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9560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코딩 도구 시장 규모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0" y="49560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18096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$51억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114800" y="54132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5184648"/>
            <a:ext cx="1097280" cy="457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5029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77840" y="52852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2.5배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66560" y="495604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$128억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66560" y="54132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(추정)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0" y="5120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Tech Insider 2026-03-15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28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개발자 85~95%가 AI 도구를 사용하고, 코드의 41~46%가 AI 지원이다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039" cy="2560320"/>
          </a:xfrm>
          <a:prstGeom prst="roundRect">
            <a:avLst>
              <a:gd name="adj" fmla="val 3571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91640"/>
            <a:ext cx="3477463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74520"/>
            <a:ext cx="3239719" cy="7772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85~95%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3239719" cy="38404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도구 채택률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127248"/>
            <a:ext cx="3239719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개발자 주간 단위 이상 사용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DORA 2025 · JetBrains 2025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Stack Overflow 2025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36999" y="1691640"/>
            <a:ext cx="3514039" cy="2560320"/>
          </a:xfrm>
          <a:prstGeom prst="roundRect">
            <a:avLst>
              <a:gd name="adj" fmla="val 3571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55287" y="1691640"/>
            <a:ext cx="3477463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4474159" y="1874520"/>
            <a:ext cx="3239719" cy="7772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41~46%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474159" y="2697480"/>
            <a:ext cx="3239719" cy="38404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신규 코드 중 AI 지원 비율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74159" y="3127248"/>
            <a:ext cx="3239719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신규 상업 코드 기준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GitHub 공식 통계 2026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전체 SDLC 기준 아님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25358" y="1691640"/>
            <a:ext cx="3514039" cy="2560320"/>
          </a:xfrm>
          <a:prstGeom prst="roundRect">
            <a:avLst>
              <a:gd name="adj" fmla="val 3571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3646" y="1691640"/>
            <a:ext cx="3477463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/>
          <p:nvPr/>
        </p:nvSpPr>
        <p:spPr>
          <a:xfrm>
            <a:off x="8262518" y="1874520"/>
            <a:ext cx="3239719" cy="7772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$8.63억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262518" y="2697480"/>
            <a:ext cx="3239719" cy="38404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시민 개발자 플랫폼 시장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62518" y="3127248"/>
            <a:ext cx="3239719" cy="9144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2025년 기준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개발 임원 89%가 전략 시행·계획 중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Lovable, V0, Replit 포함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11091672" cy="1508760"/>
          </a:xfrm>
          <a:prstGeom prst="roundRect">
            <a:avLst>
              <a:gd name="adj" fmla="val 6061"/>
            </a:avLst>
          </a:prstGeom>
          <a:solidFill>
            <a:srgbClr val="FFF3CD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6451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8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수치 해석 주의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5029200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A5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"사용"의 정의가 조사마다 상이 — 자동완성 한 번 수락도 "사용"으로 집계될 수 있음. AI 코드 비율은 신규 상업 코드 기준이며, 레거시 코드베이스 유지보수를 포함한 전체 SDLC 기준과 다름. 출처: DORA 2025, JetBrains 2025, Stack Overflow 2025, GitHub 공식 통계 2026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28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에이전트 생태계 인프라가 새로운 승자 포지션이 되고 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A1F36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5564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MCP · A2A 프로토콜 표준화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3055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9,700만 SDK 다운로드 (Python + TypeScript 합산, 2026-02 기준) | OpenAI · Google · Microsoft · AWS 전원 채택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3514039" cy="2423160"/>
          </a:xfrm>
          <a:prstGeom prst="roundRect">
            <a:avLst>
              <a:gd name="adj" fmla="val 377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2651760"/>
            <a:ext cx="3477463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743200"/>
            <a:ext cx="32397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계층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3035808"/>
            <a:ext cx="3239719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모델 제공자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438144"/>
            <a:ext cx="3239719" cy="1508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 (Claude)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OpenAI (GPT-5.x)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Google (Gemini 3)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xAI (Grok 4)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36999" y="2651760"/>
            <a:ext cx="3514039" cy="2423160"/>
          </a:xfrm>
          <a:prstGeom prst="roundRect">
            <a:avLst>
              <a:gd name="adj" fmla="val 377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55287" y="2651760"/>
            <a:ext cx="3477463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4" name="Text 12"/>
          <p:cNvSpPr/>
          <p:nvPr/>
        </p:nvSpPr>
        <p:spPr>
          <a:xfrm>
            <a:off x="4474159" y="2743200"/>
            <a:ext cx="32397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계층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74159" y="3035808"/>
            <a:ext cx="3239719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에이전트 / IDE 제공자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74159" y="3438144"/>
            <a:ext cx="3239719" cy="1508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Cursor · Windsurf (Cognition)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Copilot (Microsoft)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· Kiro (AWS)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25358" y="2651760"/>
            <a:ext cx="3514039" cy="2423160"/>
          </a:xfrm>
          <a:prstGeom prst="roundRect">
            <a:avLst>
              <a:gd name="adj" fmla="val 3774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43646" y="2651760"/>
            <a:ext cx="3477463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8262518" y="2743200"/>
            <a:ext cx="323971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계층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62518" y="3035808"/>
            <a:ext cx="3239719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수직 특화 도구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62518" y="3438144"/>
            <a:ext cx="3239719" cy="15087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Lovable · V0 by Vercel · Replit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Tabnine · CodeWhisperer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(프론트엔드, 보안 민감 기업)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349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전략적 시사점 — 플랫폼 전쟁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5687568"/>
            <a:ext cx="10698480" cy="34747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승자 포지션이 "모델"에서 "에이전트 생태계 인프라(MCP 서버, 도구 레이어)"로 이동. OpenAI · Microsoft · Google이 IDE 계층을 수직 통합(Windsurf 인수 경쟁이 이를 증명). MCP 호환 도구 미보유 기업은 후발 탑승 비용 증가. 출처: The New Stack 2026-03, 90-signal-register.md 신호 1·2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28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200400" cy="3657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3464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spc="-5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낙관론 이면의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spc="-50" kern="0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세 가지 역설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601200" y="5029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0" dirty="0">
                <a:solidFill>
                  <a:srgbClr val="252B45"/>
                </a:solidFill>
                <a:latin typeface="Pretendard Thin" pitchFamily="34" charset="0"/>
                <a:ea typeface="Pretendard Thin" pitchFamily="34" charset="-122"/>
                <a:cs typeface="Pretendard Thin" pitchFamily="34" charset="-120"/>
              </a:rPr>
              <a:t>02</a:t>
            </a:r>
            <a:endParaRPr lang="en-US" sz="9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생산성은 조건부다: 단순 과제 +30~50%, 복잡 과제에서는 역효과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2956" cy="3931920"/>
          </a:xfrm>
          <a:prstGeom prst="roundRect">
            <a:avLst>
              <a:gd name="adj" fmla="val 2326"/>
            </a:avLst>
          </a:prstGeom>
          <a:solidFill>
            <a:srgbClr val="F0FDF4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91640"/>
            <a:ext cx="532638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49971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긍정적 데이터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5362956" cy="914400"/>
        </p:xfrm>
        <a:graphic>
          <a:graphicData uri="http://schemas.openxmlformats.org/drawingml/2006/table">
            <a:tbl>
              <a:tblPr/>
              <a:tblGrid>
                <a:gridCol w="1787652"/>
                <a:gridCol w="1787652"/>
                <a:gridCol w="178765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작업 유형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효과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확신도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보일러플레이트 / 스캐폴딩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+50~70%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[높음]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테스트 코드 생성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+40~60%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[중간]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단순 버그 수정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+30~50%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[중간]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문서화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+50~70%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[높음]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 처리 시간 단축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9.6일→2.4일 (75%)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[중간]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285232"/>
            <a:ext cx="51800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GitClear 2025, GitHub Copilot 복합 지표, Quantumrun 2026-01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277356" y="1691640"/>
            <a:ext cx="5362956" cy="3931920"/>
          </a:xfrm>
          <a:prstGeom prst="roundRect">
            <a:avLst>
              <a:gd name="adj" fmla="val 2326"/>
            </a:avLst>
          </a:prstGeom>
          <a:solidFill>
            <a:srgbClr val="FFF5F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95644" y="1691640"/>
            <a:ext cx="532638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1" name="Text 8"/>
          <p:cNvSpPr/>
          <p:nvPr/>
        </p:nvSpPr>
        <p:spPr>
          <a:xfrm>
            <a:off x="6460236" y="1783080"/>
            <a:ext cx="49971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반증 데이터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7356" y="2194560"/>
          <a:ext cx="5362956" cy="914400"/>
        </p:xfrm>
        <a:graphic>
          <a:graphicData uri="http://schemas.openxmlformats.org/drawingml/2006/table">
            <a:tbl>
              <a:tblPr/>
              <a:tblGrid>
                <a:gridCol w="1787652"/>
                <a:gridCol w="1787652"/>
                <a:gridCol w="178765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출처/유형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확신도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METR RCT (2025-07)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숙련 개발자 -19% 느려짐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[중간]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GitClear (2025)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Code churn 2배 증가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[중간]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Fastly 보고서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개발자 95%가 AI 코드 수정에 추가 시간 소비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[중간]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복잡한 아키텍처 설계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효과 불명확 (역효과 가능)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[낮음]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레거시 코드 이해/수정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효과 불명확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[낮음]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6368796" y="5285232"/>
            <a:ext cx="51800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MIT Technology Review 2025-12, GitClear 2026-03, Apiiro LinkedIn 2025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48640" y="5687568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FF3CD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31520" y="573328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A5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주의: "55% 생산성 향상"(GitHub 2022, N=95)은 단일 과제 실험의 최대치이며 전체 SDLC에 일반화 불가. "-19%"(METR 2025)는 숙련 개발자·자기 리포지토리라는 특수 조건의 RCT. 둘 다 극단값.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28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조직 수준에서는 프로세스 변화 없이 10~15%가 생산성 상한이다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039" cy="2103120"/>
          </a:xfrm>
          <a:prstGeom prst="roundRect">
            <a:avLst>
              <a:gd name="adj" fmla="val 434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91640"/>
            <a:ext cx="3477463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3239719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+21%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3239719" cy="34747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개인 산출량 증가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944368"/>
            <a:ext cx="3239719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PR 생성 기준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(개인 레벨)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36999" y="1691640"/>
            <a:ext cx="3514039" cy="2103120"/>
          </a:xfrm>
          <a:prstGeom prst="roundRect">
            <a:avLst>
              <a:gd name="adj" fmla="val 434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55287" y="1691640"/>
            <a:ext cx="3477463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4474159" y="1828800"/>
            <a:ext cx="3239719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+98%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474159" y="2560320"/>
            <a:ext cx="3239719" cy="34747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PR 병합 수 증가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74159" y="2944368"/>
            <a:ext cx="3239719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AI 지원 개발자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vs 미사용 개발자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25358" y="1691640"/>
            <a:ext cx="3514039" cy="2103120"/>
          </a:xfrm>
          <a:prstGeom prst="roundRect">
            <a:avLst>
              <a:gd name="adj" fmla="val 434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3646" y="1691640"/>
            <a:ext cx="3477463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/>
          <p:nvPr/>
        </p:nvSpPr>
        <p:spPr>
          <a:xfrm>
            <a:off x="8262518" y="1828800"/>
            <a:ext cx="3239719" cy="6858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10~15%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8262518" y="2560320"/>
            <a:ext cx="3239719" cy="34747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조직 전달 지표 향상 상한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62518" y="2944368"/>
            <a:ext cx="3239719" cy="5943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프로세스 미변화 시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(Bain 2025)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1A1F36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0873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"AI 생산성 역설"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462272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코딩은 전체 SDLC의 25~35%에 불과. 개인 산출량이 올라도 리뷰·통합·배포 병목이 해소되지 않으면 조직 전달 지표는 정체된다. Faros AI가 10,000명 이상의 개발자 텔레메트리를 통해 확인한 가장 신뢰할 수 있는 조직 수준 수치.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34924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측정 수준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 생성 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+21%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Faros AI 2025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 병합 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+98%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Faros AI 2025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출시 주기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Faros AI 2025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전체 생산성 향상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10~15%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Bain 2025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28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도구 신뢰도는 하락하는데, 사용률은 상승한다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691640"/>
            <a:ext cx="4005072" cy="4114800"/>
          </a:xfrm>
          <a:prstGeom prst="roundRect">
            <a:avLst>
              <a:gd name="adj" fmla="val 2283"/>
            </a:avLst>
          </a:prstGeom>
          <a:solidFill>
            <a:srgbClr val="1A1F36"/>
          </a:solidFill>
          <a:ln w="12700">
            <a:solidFill>
              <a:srgbClr val="3A406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53528" y="1691640"/>
            <a:ext cx="3968496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4"/>
          <p:cNvSpPr/>
          <p:nvPr/>
        </p:nvSpPr>
        <p:spPr>
          <a:xfrm>
            <a:off x="7818120" y="18013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인사이트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818120" y="228600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252B4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0" y="234086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43% → 29%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955280" y="270662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신뢰도 하락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818120" y="324612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252B45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0" y="330098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63% → 84%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955280" y="366674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사용률 상승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818120" y="420624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252B45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0" y="42611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대안 부재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955280" y="462686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Lock-in 패턴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818120" y="4773168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"신뢰해서 쓰는 것이 아니라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대안이 없어서 쓴다"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594360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5998464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00-synthesis.md 섹션 4 "AI 도구 신뢰 역설" | 신뢰도: 개발자 설문 기준 (조사마다 정의 차이 있음) | 사용률: Stack Overflow 2025, DORA 2025 기준. 신규 코드 작성 과제 만족도 높음, AI 코드 검토 부담 불만.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28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코드 보안 부채가 조용히 누적되고 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411480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신호 강도: 강 | 잠재 폭발 시점: 12~24개월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3383280" cy="1600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50008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7BF7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45%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85800" y="299008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AI 생성 코드 샘플에서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OWASP Top 10 취약점 발생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Veracode 2025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60520" y="2240280"/>
            <a:ext cx="3383280" cy="1600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2350008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7BF7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62%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297680" y="299008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AI 생성 코드에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설계 결함 또는 알려진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보안 취약점 포함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60520" y="363016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Veracode 2025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72400" y="2240280"/>
            <a:ext cx="3383280" cy="1600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2350008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7BF7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40%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909560" y="299008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AI 코드 프로젝트가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2027년까지 비용 초과·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가치 불명확으로 취소 예측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0" y="363016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Gartner 예측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• 대량 생성이 총 취약점 노출면 확대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315968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    ↳ 개별 코드 품질보다 볼륨 증가가 핵심 리스크 — 보안 파이프라인 없이 생산성만 추구하면 순손실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626864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• 프롬프트 붕괴(Prompt Decay): 장기 실행 에이전트에서 보안 에이전트가 500회 이상 검토 후 임계 문제 조용히 누락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937760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• IDEsaster: Cursor IDE·GitHub Copilot에서 CVE 등 실제 익스플로잇 취약점 사례 보고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248656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    ↳ 인간 작성 코드 대비 비교치 부재 — "45%" 수치는 방향 지표로만 해석 요망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596128"/>
            <a:ext cx="11091672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5596128"/>
            <a:ext cx="11000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전환 트리거: Fortune 500에서 AI 생성 코드 취약점 기반 대형 보안 침해 사고가 공개 발생 | 규제 당국 필수 보안 감사 의무화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28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148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DORA 2025 · Google State of AI-assisted Software Development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005840"/>
            <a:ext cx="999439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4A5568"/>
                </a:solidFill>
                <a:latin typeface="ChosunNm" pitchFamily="34" charset="0"/>
                <a:ea typeface="ChosunNm" pitchFamily="34" charset="-122"/>
                <a:cs typeface="ChosunNm" pitchFamily="34" charset="-120"/>
              </a:rPr>
              <a:t>"AI는 기존 조직의 강점과 약점을 증폭시키는 '증폭기'다.</a:t>
            </a:r>
            <a:endParaRPr lang="en-US" sz="2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4A5568"/>
                </a:solidFill>
                <a:latin typeface="ChosunNm" pitchFamily="34" charset="0"/>
                <a:ea typeface="ChosunNm" pitchFamily="34" charset="-122"/>
                <a:cs typeface="ChosunNm" pitchFamily="34" charset="-120"/>
              </a:rPr>
              <a:t>잘 작동하는 조직은 더 잘 되고, 문제 있는 조직은 더 악화된다."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3127248"/>
            <a:ext cx="5788152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91840"/>
            <a:ext cx="10360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AI 효과를 조직 성과로 연결하는 7가지 역량 (DORA 2025)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767328"/>
            <a:ext cx="2606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6732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① 명확한 AI 입장 (AI Stance)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4408" y="3767328"/>
            <a:ext cx="2606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376732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② 건강한 데이터 생태계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0176" y="3767328"/>
            <a:ext cx="2606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0176" y="376732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③ AI 접근 가능한 내부 데이터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95944" y="3767328"/>
            <a:ext cx="2606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95944" y="376732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④ 강력한 버전 관리 체계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75688" y="4462272"/>
            <a:ext cx="2606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75688" y="4462272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⑤ 소규모 배치 작업 문화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91456" y="4462272"/>
            <a:ext cx="2606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4462272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⑥ 사용자 중심 집중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07224" y="4462272"/>
            <a:ext cx="2606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07224" y="4462272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⑦ 우수한 내부 플랫폼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5230368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→ 도구 도입 전 조직 체력 점검이 선행되어야 한다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28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수혜는 비대칭적으로 귀속된다: 플랫폼 &gt; 대기업 &gt; 시니어 &gt; 주니어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AI 개발 도구 시대의 최대 수혜자는 누구인가 — 00-synthesis.md 섹션 4 핵심 발견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017520"/>
                <a:gridCol w="2834640"/>
                <a:gridCol w="24048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수혜 주체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핵심 이익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대표 지표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리스크 / 과제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A7BF7"/>
                          </a:solidFill>
                        </a:rPr>
                        <a:t>플랫폼 제공자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A7BF7"/>
                          </a:solidFill>
                        </a:rPr>
                        <a:t>(Anthropic / Microsoft / Anysphere)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AI 도구 구독 수익 + 생태계 Lock-in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ARR $10억~$20억 (각사)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경쟁 격화, 오픈소스 대안 부상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AI 조기 채택 대기업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자체 코드베이스 파인튜닝 → 경쟁 우위 확보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상위 사분위: 65%+ 일일 사용 → 15%+ 속도 향상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거버넌스 없으면 기술 부채 폭발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시니어 개발자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AI를 레버리지로 활용 → 생산량 급증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GitHub Copilot 사용 시 22% 속도 향상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일부 환경에서 -19% (복잡 과제·METR 2025)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A7BF7"/>
                          </a:solidFill>
                        </a:rPr>
                        <a:t>주니어 개발자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AI 도구 사용은 가능하나 기회 자체가 축소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A7BF7"/>
                          </a:solidFill>
                        </a:rPr>
                        <a:t>4% 속도 향상 / 신규 채용 13~50% 감소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역할 재정의 없이는 진입 경로 협소화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21808"/>
            <a:ext cx="11091672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5321808"/>
            <a:ext cx="108173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핵심: "AI 도구 시대의 가장 날카로운 질문은 어떤 도구를 쓸 것인가가 아니라, 수혜가 누구에게 귀속되는가이다." — 00-synthesis.md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28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82880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Part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395728"/>
            <a:ext cx="107259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미래 일터는</a:t>
            </a:r>
            <a:endParaRPr lang="en-US" sz="44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어떻게 변화하는가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179576" y="4572000"/>
            <a:ext cx="2286000" cy="438912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9576" y="457200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팀 규모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94176" y="4572000"/>
            <a:ext cx="2286000" cy="438912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94176" y="457200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역할 전환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08776" y="4572000"/>
            <a:ext cx="2286000" cy="438912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08776" y="457200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산업 파급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23376" y="4572000"/>
            <a:ext cx="2286000" cy="438912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23376" y="457200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고용 구조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소프트웨어 팀은 이미 축소되고 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실증 사례와 산업 전망 — 02-industry-impact-future-work.md 섹션 1.1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3474720" cy="2468880"/>
          </a:xfrm>
          <a:prstGeom prst="rect">
            <a:avLst/>
          </a:prstGeom>
          <a:solidFill>
            <a:srgbClr val="F5F7FA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848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헬스케어 기업 사례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432304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1809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10인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71809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개발팀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0" y="2432304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60320" y="2432304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7BF7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3인 팀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제품 오너 + AI 프롬팅 가능 개발자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+ 시스템 아키텍트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422452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Fortune 보도 [중간 - 단일 사례]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70248" y="1993392"/>
            <a:ext cx="3474720" cy="24688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0248" y="20848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Pragmatic Engineer 설문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07408" y="2432304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1809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2인 피자 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71809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(6~10인)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33288" y="2432304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81928" y="2432304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1인 피자 팀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(3~4인)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361688" y="3200400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농업 분야 200년 기업 엔지니어링 리더 발언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"더 적게, 더 많은 것을 창출"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70248" y="422452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Pragmatic Engineer Newsletter [중간]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982712" y="1993392"/>
            <a:ext cx="3474720" cy="24688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82712" y="20848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Gartner 전망 (2030)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19872" y="2432304"/>
            <a:ext cx="1234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1809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대규모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71809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소프트웨어 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45752" y="2432304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994392" y="2432304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80%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기업 전환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074152" y="3200400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소규모 AI-증강 팀으로 전환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※ 방향성 지표로만 활용 (장기 예측 불확실)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82712" y="422452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Gartner / Deloitte 2026 Outlook [낮음]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4645152"/>
            <a:ext cx="1109167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645152"/>
            <a:ext cx="108173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"일부 팀은 코드를 사실상 한 줄도 직접 작성하지 않는다. 모두 에이전트 오케스트레이션이다.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결과적으로 팀이 작아지는 게 아니라 2~5배 더 많은 것을 창출한다." — Atlassian 엔지니어링 리더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458968"/>
            <a:ext cx="11091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* Gartner 80% 수치는 B2B 대기업 설문 기반. 스타트업·중소기업은 채택 속도 상이. AI 코드 품질 신뢰도 45% 기업 우려 시 팀 축소 속도 둔화 가능.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28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주니어 고용은 감소하지만, 전체 개발자 수요는 증가한다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76188" y="1691640"/>
            <a:ext cx="27432" cy="45720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09928"/>
            <a:ext cx="53629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BF7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주니어 개발자 고용 감소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76272"/>
            <a:ext cx="5362956" cy="1115568"/>
          </a:xfrm>
          <a:prstGeom prst="rect">
            <a:avLst/>
          </a:prstGeom>
          <a:solidFill>
            <a:srgbClr val="F5F7FA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21992"/>
            <a:ext cx="53629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7BF7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13% 감소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670048"/>
            <a:ext cx="518007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AI 노출 직군 22~25세 초기 경력자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고용 감소 (2022~2025)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090672"/>
            <a:ext cx="536295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Stanford 2025 [높음]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3410712"/>
            <a:ext cx="5362956" cy="1115568"/>
          </a:xfrm>
          <a:prstGeom prst="rect">
            <a:avLst/>
          </a:prstGeom>
          <a:solidFill>
            <a:srgbClr val="F5F7FA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53629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7BF7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50% 감소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" y="3904488"/>
            <a:ext cx="518007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빅테크 신규 졸업자 채용 감소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(최근 3년)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325112"/>
            <a:ext cx="536295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Rest of World [중간]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4645152"/>
            <a:ext cx="5362956" cy="1115568"/>
          </a:xfrm>
          <a:prstGeom prst="rect">
            <a:avLst/>
          </a:prstGeom>
          <a:solidFill>
            <a:srgbClr val="F5F7FA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690872"/>
            <a:ext cx="53629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7BF7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31% 감소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" y="5138928"/>
            <a:ext cx="518007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한국 대기업 신입 공채 축소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(AI 네이티브 경력직 전환)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5559552"/>
            <a:ext cx="536295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00-synthesis.md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77356" y="1709928"/>
            <a:ext cx="53629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전체 개발자 수요 증가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77356" y="2176272"/>
            <a:ext cx="5362956" cy="1115568"/>
          </a:xfrm>
          <a:prstGeom prst="rect">
            <a:avLst/>
          </a:prstGeom>
          <a:solidFill>
            <a:srgbClr val="F5F7FA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7356" y="2221992"/>
            <a:ext cx="53629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17.9%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68796" y="2670048"/>
            <a:ext cx="518007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BLS 소프트웨어 개발자 고용 성장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예측 (2023~2033)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77356" y="3090672"/>
            <a:ext cx="536295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BLS [높음]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77356" y="3410712"/>
            <a:ext cx="5362956" cy="1115568"/>
          </a:xfrm>
          <a:prstGeom prst="rect">
            <a:avLst/>
          </a:prstGeom>
          <a:solidFill>
            <a:srgbClr val="F5F7FA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7356" y="3456432"/>
            <a:ext cx="53629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+수요 폭발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68796" y="3904488"/>
            <a:ext cx="518007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AI가 진입장벽 낮춰 더 많은 산업에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소프트웨어 침투 → 전체 수요 증가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77356" y="4325112"/>
            <a:ext cx="536295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WEF Future of Jobs 2025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77356" y="4645152"/>
            <a:ext cx="5362956" cy="1115568"/>
          </a:xfrm>
          <a:prstGeom prst="rect">
            <a:avLst/>
          </a:prstGeom>
          <a:solidFill>
            <a:srgbClr val="F5F7FA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7356" y="4690872"/>
            <a:ext cx="53629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총량↑ 구성↔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368796" y="5138928"/>
            <a:ext cx="5180076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"총 수요 증가 + 구성 변화"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(주니어 비중 감소, 시니어/AI 전문가 증가)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77356" y="5559552"/>
            <a:ext cx="536295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00-synthesis.md 상충점 해결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5925312"/>
            <a:ext cx="11091672" cy="438912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5925312"/>
            <a:ext cx="10817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해석: 주니어 대량 해고는 잘못된 전략 — "채용 축소보다 역할 재정의로 대응"이 정답 (00-synthesis.md 역방향 의사결정 가이드)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28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개발자 역할이 코딩에서 오케스트레이션으로 전환 중이다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02-industry-impact-future-work.md 섹션 2 · 90-signal-register.md 신호 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감독 &amp; 오케스트레이션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방향 설정, 결과물 검증,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 보증 — AI를 자동조종이 아닌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페어 프로그래머로 운용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9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시스템 아키텍처 설계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실행하는 복잡 시스템의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구조 설계 — AI 확장 시대의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인간 역량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도메인 전문성 × AI 융합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금융·의료·법률·제조 등 특정 산업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맥락에서 AI를 적용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AI가 모르는 암묵적 지식 보유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"빌더" 역할 부상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발견부터 AI 활용 구현까지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과정을 1인이 담당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(SF Standard 2026: "Everyone's a Builder")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779008"/>
            <a:ext cx="11091672" cy="512064"/>
          </a:xfrm>
          <a:prstGeom prst="rect">
            <a:avLst/>
          </a:prstGeom>
          <a:solidFill>
            <a:srgbClr val="F5F7FA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779008"/>
            <a:ext cx="10817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부상 직무 (신호 7) — AI Agent Architect: $140K~$225K  |  Agentic AI Specialist: $100K~$180K  |  RAG Engineer: $110K~$180K  |  AI 엔지니어 직무 YoY +143%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28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비소프트웨어 산업에서도 AI 파급이 빠르게 확산 중이다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채택 병목은 공통적으로 기술이 아닌 거버넌스·데이터·조직 변화관리 — 02-industry-impact-future-work.md 섹션 3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93392"/>
          <a:ext cx="1109167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926080"/>
                <a:gridCol w="2743200"/>
                <a:gridCol w="2560320"/>
                <a:gridCol w="1280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산업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주요 AI 적용 영역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핵심 성과 지표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핵심 병목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신뢰도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제조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예측 유지보수, 디지털 트윈, AI 품질 검사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가동중단 비용 50% 감소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유지보수 비용 30% 절감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레거시 장비, 안전 규제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718096"/>
                          </a:solidFill>
                        </a:rPr>
                        <a:t>[중간]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금융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반복 데이터 처리·예측 분석 자동화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McKinsey: 64%가 비용·수익 개선 보고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규제 준수, 감사 추적, 할루시네이션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718096"/>
                          </a:solidFill>
                        </a:rPr>
                        <a:t>[중간~높음]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의료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방사선 영상 분석, 진단 보조 AI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헬스케어 기업 10인→3인 팀 전환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HIPAA/GDPR, 임상 검증, 의사 신뢰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718096"/>
                          </a:solidFill>
                        </a:rPr>
                        <a:t>[중간]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법률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계약 검토, 법률 리서치, 컴플라이언스 분석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법률 보조 인력(paralegal) 역할 변화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책임 귀속, 오류 비용, 변호사 단체 규제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718096"/>
                          </a:solidFill>
                        </a:rPr>
                        <a:t>[중간]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교육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AI 개인화 학습, 자동 채점, 적응형 커리큘럼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AI 능숙 직원 56% 임금 프리미엄 (PwC 2025)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교사 역할 재정의, 스킬 격차 관리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718096"/>
                          </a:solidFill>
                        </a:rPr>
                        <a:t>[중간]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21808"/>
            <a:ext cx="11091672" cy="512064"/>
          </a:xfrm>
          <a:prstGeom prst="rect">
            <a:avLst/>
          </a:prstGeom>
          <a:solidFill>
            <a:srgbClr val="F5F7FA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5321808"/>
            <a:ext cx="10817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공통 병목 (전 산업): 기술 성숙도가 아닌 거버넌스 체계 / 고품질 내부 데이터 확보 / 조직 변화관리 역량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→ 채택 속도는 기술 준비도보다 조직 준비도에 달려 있다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28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Part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395728"/>
            <a:ext cx="112745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우리는 무엇을</a:t>
            </a:r>
            <a:endParaRPr lang="en-US" sz="44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준비해야 하는가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179576" y="4572000"/>
            <a:ext cx="2286000" cy="438912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9576" y="457200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개인 역량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94176" y="4572000"/>
            <a:ext cx="2286000" cy="438912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94176" y="457200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기업 전략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08776" y="4572000"/>
            <a:ext cx="2286000" cy="438912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08776" y="457200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로드맵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723376" y="4572000"/>
            <a:ext cx="2286000" cy="438912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23376" y="457200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[object Object]" pitchFamily="34" charset="0"/>
                <a:ea typeface="[object Object]" pitchFamily="34" charset="-122"/>
                <a:cs typeface="[object Object]" pitchFamily="34" charset="-120"/>
              </a:rPr>
              <a:t>권고안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4A7BF7"/>
          </a:solidFill>
          <a:ln w="12700">
            <a:solidFill>
              <a:srgbClr val="4A7BF7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4가지 시나리오: 가장 가능성 높은 미래는 "점진적 통합"이다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</a:rPr>
              <a:t>시나리오 A가 50~60% — 그래도 나머지 40~50%를 무시할 수 없다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03520" cy="2148840"/>
          </a:xfrm>
          <a:prstGeom prst="rect">
            <a:avLst/>
          </a:prstGeom>
          <a:solidFill>
            <a:srgbClr val="EBF5FB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530352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90195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 점진적 통합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892040" y="191109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50~60%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• 기술 연 15~25% 개선 + 조직 점진 수용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272491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• 팀 규모 20~30% 축소 (3년 내 주류)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3118104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• 에이전틱 코딩 → 반복 업무 40~50% 대체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3511296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• 전략: 단계적 도입 + 거버넌스 선행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874520"/>
            <a:ext cx="5303520" cy="2148840"/>
          </a:xfrm>
          <a:prstGeom prst="rect">
            <a:avLst/>
          </a:prstGeom>
          <a:solidFill>
            <a:srgbClr val="EAFAF1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874520"/>
            <a:ext cx="530352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190195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 소프트웨어 수요 폭발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469880" y="191109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15~25%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63640" y="23317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• AI 성능 급진전 + 규제 혁신 친화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63640" y="272491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• 전 산업 소프트웨어화 → 개발자 총 수요 증가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63640" y="3118104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• AI 에이전트가 SDLC 70%+ 자동 처리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63640" y="3511296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• 전략: 적극 투자 + 인재 조기 확보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251960"/>
            <a:ext cx="5303520" cy="2148840"/>
          </a:xfrm>
          <a:prstGeom prst="rect">
            <a:avLst/>
          </a:prstGeom>
          <a:solidFill>
            <a:srgbClr val="FDEDEC"/>
          </a:solidFill>
          <a:ln w="19050">
            <a:solidFill>
              <a:srgbClr val="CB43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251960"/>
            <a:ext cx="5303520" cy="347472"/>
          </a:xfrm>
          <a:prstGeom prst="rect">
            <a:avLst/>
          </a:prstGeom>
          <a:solidFill>
            <a:srgbClr val="CB4335"/>
          </a:solidFill>
          <a:ln w="12700">
            <a:solidFill>
              <a:srgbClr val="CB43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2793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 규제 브레이크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92040" y="428853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15~20%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470916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• 대형 AI 코드 보안 사고 + 규제 급강화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85800" y="510235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• AI 코드 인간 검토 의무화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5800" y="5495544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• 채택 속도 50% 둔화, 컴플라이언스 비용 급증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5800" y="5888736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• 전략: 거버넌스가 경쟁력, 컴플라이언스 선행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4251960"/>
            <a:ext cx="5303520" cy="2148840"/>
          </a:xfrm>
          <a:prstGeom prst="rect">
            <a:avLst/>
          </a:prstGeom>
          <a:solidFill>
            <a:srgbClr val="FEF9E7"/>
          </a:solidFill>
          <a:ln w="19050">
            <a:solidFill>
              <a:srgbClr val="B795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4251960"/>
            <a:ext cx="5303520" cy="347472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6208" y="42793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 기술 정체 (고원기)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469880" y="428853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10~15%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470916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• Scaling law 한계 → SWE-bench 80%에서 포화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63640" y="510235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• 에이전틱 코딩 → 실험 수준 고착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63640" y="5495544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• 구독 해지 증가, 과잉 투자 기업 손실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63640" y="5888736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• 전략: 현 수준 실용적 활용, 과잉 투자 회피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4922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E86C1"/>
                </a:solidFill>
              </a:rPr>
              <a:t>공통 대비: 시나리오 A(기준)를 중심으로 설계  |  C·D 방어 내장  |  B 업사이드 옵션 유지  —  출처: 91-scenario-matrix.md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/ 28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시나리오별 핵심 차이: 어떤 세상이 오느냐에 따라 전략이 달라진다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194560"/>
                <a:gridCol w="2194560"/>
                <a:gridCol w="2468880"/>
                <a:gridCol w="22860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차원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 점진적 통합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 수요 폭발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 규제 브레이크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43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 기술 정체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950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F36"/>
                          </a:solidFill>
                        </a:rPr>
                        <a:t>개발자 총 수요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소폭 감소 후 안정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증가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유지~소폭 감소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유지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F36"/>
                          </a:solidFill>
                        </a:rPr>
                        <a:t>주니어 수요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구조적 감소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역할 재정의 후 반등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검토 역할로 유지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완만한 감소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F36"/>
                          </a:solidFill>
                        </a:rPr>
                        <a:t>팀 규모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20~30% 축소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1인 팀 증가</a:t>
                      </a:r>
                      <a:endParaRPr lang="en-US" sz="950" dirty="0"/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총 팀 수 증가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축소 둔화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소폭 축소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F36"/>
                          </a:solidFill>
                        </a:rPr>
                        <a:t>핵심 역량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AI 오케스트레이션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도메인 × AI 융합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거버넌스·컴플라이언스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전통 개발 + AI 보조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F36"/>
                          </a:solidFill>
                        </a:rPr>
                        <a:t>최대 리스크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보안 부채 누적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플랫폼 종속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혁신 경쟁력 저하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과잉 투자 손실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F36"/>
                          </a:solidFill>
                        </a:rPr>
                        <a:t>한국 기업 전략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단계적 도입</a:t>
                      </a:r>
                      <a:endParaRPr lang="en-US" sz="950" dirty="0"/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+ 거버넌스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적극 투자</a:t>
                      </a:r>
                      <a:endParaRPr lang="en-US" sz="950" dirty="0"/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+ 인재 확보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컴플라이언스 선행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</a:rPr>
                        <a:t>제한적 도입 유지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37960"/>
            <a:ext cx="11091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</a:rPr>
              <a:t>출처: 91-scenario-matrix.md — 시나리오 간 비교 요약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/ 28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기업 전략: 지금 실행 / 제한적 실험 / 관망 / 회피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11091672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5564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지금 실행  |  0~3개월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048256"/>
            <a:ext cx="4114800" cy="384048"/>
          </a:xfrm>
          <a:prstGeom prst="rect">
            <a:avLst/>
          </a:prstGeom>
          <a:solidFill>
            <a:srgbClr val="EB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8483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</a:rPr>
              <a:t>AI 도구 파일럿 (5~10명)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2048256"/>
            <a:ext cx="2926080" cy="384048"/>
          </a:xfrm>
          <a:prstGeom prst="rect">
            <a:avLst/>
          </a:prstGeom>
          <a:solidFill>
            <a:srgbClr val="EB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08483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Copilot/Cursor, 비용 낮음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589520" y="2048256"/>
            <a:ext cx="4050792" cy="384048"/>
          </a:xfrm>
          <a:prstGeom prst="rect">
            <a:avLst/>
          </a:prstGeom>
          <a:solidFill>
            <a:srgbClr val="EB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2084832"/>
            <a:ext cx="3867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모든 시나리오에서 유효, 즉시 학습 축적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432304"/>
            <a:ext cx="4114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46888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</a:rPr>
              <a:t>AI 코드 보안 스캔 파이프라인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2432304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46888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CI/CD 통합 필요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589520" y="2432304"/>
            <a:ext cx="405079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2468880"/>
            <a:ext cx="3867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보안 부채 선제 차단, 규제 대비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816352"/>
            <a:ext cx="4114800" cy="384048"/>
          </a:xfrm>
          <a:prstGeom prst="rect">
            <a:avLst/>
          </a:prstGeom>
          <a:solidFill>
            <a:srgbClr val="EB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85292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</a:rPr>
              <a:t>AI 거버넌스 정책 v1 수립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816352"/>
            <a:ext cx="2926080" cy="384048"/>
          </a:xfrm>
          <a:prstGeom prst="rect">
            <a:avLst/>
          </a:prstGeom>
          <a:solidFill>
            <a:srgbClr val="EB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85292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조직 합의 필요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89520" y="2816352"/>
            <a:ext cx="4050792" cy="384048"/>
          </a:xfrm>
          <a:prstGeom prst="rect">
            <a:avLst/>
          </a:prstGeom>
          <a:solidFill>
            <a:srgbClr val="EB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2852928"/>
            <a:ext cx="3867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Shadow AI 리스크 제거, 모든 시나리오 필수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200400"/>
            <a:ext cx="11091672" cy="32918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23697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제한적 실험  |  3~12개월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529584"/>
            <a:ext cx="4114800" cy="384048"/>
          </a:xfrm>
          <a:prstGeom prst="rect">
            <a:avLst/>
          </a:prstGeom>
          <a:solidFill>
            <a:srgbClr val="EAFAF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56616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</a:rPr>
              <a:t>SDLC 전 주기 AI 통합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529584"/>
            <a:ext cx="2926080" cy="384048"/>
          </a:xfrm>
          <a:prstGeom prst="rect">
            <a:avLst/>
          </a:prstGeom>
          <a:solidFill>
            <a:srgbClr val="EAFAF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56616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조직 변화 관리 高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589520" y="3529584"/>
            <a:ext cx="4050792" cy="384048"/>
          </a:xfrm>
          <a:prstGeom prst="rect">
            <a:avLst/>
          </a:prstGeom>
          <a:solidFill>
            <a:srgbClr val="EAFAF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3566160"/>
            <a:ext cx="3867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생산성 10~15% → 20~30% 달성 열쇠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3913632"/>
            <a:ext cx="4114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95020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</a:rPr>
              <a:t>에이전틱 코딩 제한적 도입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3913632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95020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보안 파이프라인 선결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589520" y="3913632"/>
            <a:ext cx="405079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3950208"/>
            <a:ext cx="3867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반복 업무 30~50% 자동화 잠재력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4297680"/>
            <a:ext cx="4114800" cy="384048"/>
          </a:xfrm>
          <a:prstGeom prst="rect">
            <a:avLst/>
          </a:prstGeom>
          <a:solidFill>
            <a:srgbClr val="EAFAF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33425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</a:rPr>
              <a:t>역할 재정의 설계 착수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4297680"/>
            <a:ext cx="2926080" cy="384048"/>
          </a:xfrm>
          <a:prstGeom prst="rect">
            <a:avLst/>
          </a:prstGeom>
          <a:solidFill>
            <a:srgbClr val="EAFAF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433425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인재 전략 기반 구축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589520" y="4297680"/>
            <a:ext cx="4050792" cy="384048"/>
          </a:xfrm>
          <a:prstGeom prst="rect">
            <a:avLst/>
          </a:prstGeom>
          <a:solidFill>
            <a:srgbClr val="EAFAF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0" y="4334256"/>
            <a:ext cx="3867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AI 오케스트레이터·에이전트 아키텍트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8640" y="4681728"/>
            <a:ext cx="11091672" cy="329184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7183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관망  |  12~36개월 (조건부)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5010912"/>
            <a:ext cx="4114800" cy="384048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504748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</a:rPr>
              <a:t>멀티에이전트 전면 도입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5010912"/>
            <a:ext cx="2926080" cy="384048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504748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기술 성숙도 미검증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589520" y="5010912"/>
            <a:ext cx="4050792" cy="384048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80960" y="5047488"/>
            <a:ext cx="3867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SWE-bench 실세계 60%+ 확인 후 검토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48640" y="5394960"/>
            <a:ext cx="4114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543153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</a:rPr>
              <a:t>오픈소스 모델 자체 호스팅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63440" y="5394960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543153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인프라·MLOps 역량 필요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589520" y="5394960"/>
            <a:ext cx="405079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80960" y="5431536"/>
            <a:ext cx="3867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시장 안정화 후 비용/보안/성능 삼각 검토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48640" y="5779008"/>
            <a:ext cx="11091672" cy="329184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" y="58155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회피  |  하지 말 것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48640" y="6108192"/>
            <a:ext cx="4114800" cy="384048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" y="614476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</a:rPr>
              <a:t>프로세스 변화 없이 도구만 전사 확산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663440" y="6108192"/>
            <a:ext cx="2926080" cy="384048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0" y="614476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Bain: 10~15%가 상한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589520" y="6108192"/>
            <a:ext cx="4050792" cy="384048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680960" y="6144768"/>
            <a:ext cx="3867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오히려 안정성 7.2% 저하 가능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48640" y="6492240"/>
            <a:ext cx="41148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652881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</a:rPr>
              <a:t>거버넌스 없이 에이전틱 AI 배포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63440" y="6492240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54880" y="652881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보안 부채 폭발 경로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589520" y="6492240"/>
            <a:ext cx="4050792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680960" y="6528816"/>
            <a:ext cx="3867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대형 침해 사고 리스크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48640" y="6876288"/>
            <a:ext cx="4114800" cy="384048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0080" y="691286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</a:rPr>
              <a:t>AI 대체 목적 주니어 대량 해고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663440" y="6876288"/>
            <a:ext cx="2926080" cy="384048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54880" y="691286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장기 인재 파이프라인 고갈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589520" y="6876288"/>
            <a:ext cx="4050792" cy="384048"/>
          </a:xfrm>
          <a:prstGeom prst="rect">
            <a:avLst/>
          </a:prstGeom>
          <a:solidFill>
            <a:srgbClr val="FDEDE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680960" y="6912864"/>
            <a:ext cx="3867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시나리오 B 발생 시 대응 불능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48640" y="6537960"/>
            <a:ext cx="11091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</a:rPr>
              <a:t>출처: 92-strategy-options.md, 00-synthesis.md §8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/ 28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프로세스 재설계가 생산성 10~15%를 20~30%로 끌어올리는 열쇠다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91672" cy="713232"/>
          </a:xfrm>
          <a:prstGeom prst="rect">
            <a:avLst/>
          </a:prstGeom>
          <a:solidFill>
            <a:srgbClr val="EBF5FB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64208"/>
            <a:ext cx="10835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5276"/>
                </a:solidFill>
              </a:rPr>
              <a:t>Bain(2025): "AI가 없어도 할 수 있는 단계에만 집중"했던 기업들이 ROI 달성에 실패했다.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5276"/>
                </a:solidFill>
              </a:rPr>
              <a:t>코딩 단계(전체 SDLC의 25~35%)만 최적화해서는 조직 수준 생산성 상한이 10~15%이다.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2450592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</a:rPr>
              <a:t>SDLC 전 주기 AI 통합 (20~30% 경로)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88720" cy="438912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3464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요구사항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37360" y="2834640"/>
            <a:ext cx="4114800" cy="438912"/>
          </a:xfrm>
          <a:prstGeom prst="rect">
            <a:avLst/>
          </a:prstGeom>
          <a:solidFill>
            <a:srgbClr val="F4F6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283464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AI 기반 스펙 초안, 사용자 스토리 자동 생성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1188720" cy="438912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8328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설계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737360" y="3383280"/>
            <a:ext cx="4114800" cy="438912"/>
          </a:xfrm>
          <a:prstGeom prst="rect">
            <a:avLst/>
          </a:prstGeom>
          <a:solidFill>
            <a:srgbClr val="F4F6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338328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아키텍처 리뷰 보조, 다이어그램 자동화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1188720" cy="438912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93192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코딩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737360" y="3931920"/>
            <a:ext cx="4114800" cy="438912"/>
          </a:xfrm>
          <a:prstGeom prst="rect">
            <a:avLst/>
          </a:prstGeom>
          <a:solidFill>
            <a:srgbClr val="F4F6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39319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Copilot/Cursor 코드 완성, 보일러플레이트 제거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1188720" cy="438912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48056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테스트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737360" y="4480560"/>
            <a:ext cx="4114800" cy="438912"/>
          </a:xfrm>
          <a:prstGeom prst="rect">
            <a:avLst/>
          </a:prstGeom>
          <a:solidFill>
            <a:srgbClr val="F4F6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448056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AI 유닛 테스트 자동 생성, QA 커버리지 확장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1188720" cy="438912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02920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배포·운영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737360" y="5029200"/>
            <a:ext cx="4114800" cy="438912"/>
          </a:xfrm>
          <a:prstGeom prst="rect">
            <a:avLst/>
          </a:prstGeom>
          <a:solidFill>
            <a:srgbClr val="F4F6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0" y="502920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CI/CD 자동화, SRE 이상 감지 보조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26480" y="245059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</a:rPr>
              <a:t>성공 vs 실패 — 핵심 변수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2834640"/>
            <a:ext cx="5330952" cy="1097280"/>
          </a:xfrm>
          <a:prstGeom prst="rect">
            <a:avLst/>
          </a:prstGeom>
          <a:solidFill>
            <a:srgbClr val="EAFAF1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2834640"/>
            <a:ext cx="5330952" cy="2743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285292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성공: Goldman Sachs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31546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사유 코드베이스 기반 파인튜닝 → 컨텍스트 인식 코드 생성. SDLC 전 단계 통합으로 개발 주기 단축.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26480" y="4069080"/>
            <a:ext cx="5330952" cy="1097280"/>
          </a:xfrm>
          <a:prstGeom prst="rect">
            <a:avLst/>
          </a:prstGeom>
          <a:solidFill>
            <a:srgbClr val="FDEDEC"/>
          </a:solidFill>
          <a:ln w="19050">
            <a:solidFill>
              <a:srgbClr val="CB433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4069080"/>
            <a:ext cx="5330952" cy="274320"/>
          </a:xfrm>
          <a:prstGeom prst="rect">
            <a:avLst/>
          </a:prstGeom>
          <a:solidFill>
            <a:srgbClr val="CB4335"/>
          </a:solidFill>
          <a:ln w="12700">
            <a:solidFill>
              <a:srgbClr val="CB43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408736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실패: 광범위 산업 평균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17920" y="43891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Bain(2025): AI 코드 27% 생성에도 생산성 ~10%. 처리량 1.5% 감소, 안정성 7.2% 저하. 코딩 속도 20% 향상이 테스트·리뷰 병목(19% 증가)으로 상쇄.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26480" y="5303520"/>
            <a:ext cx="5330952" cy="1097280"/>
          </a:xfrm>
          <a:prstGeom prst="rect">
            <a:avLst/>
          </a:prstGeom>
          <a:solidFill>
            <a:srgbClr val="FEF9E7"/>
          </a:solidFill>
          <a:ln w="19050">
            <a:solidFill>
              <a:srgbClr val="B795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5303520"/>
            <a:ext cx="5330952" cy="27432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532180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Faros AI: AI 생산성 역설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17920" y="56235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10,000+ 개발자 텔레메트리: 개인 PR 병합 98% 증가. 그러나 조직 전달 지표는 정체. 프로세스 변화 없는 도구 교체의 한계.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6537960"/>
            <a:ext cx="11091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</a:rPr>
              <a:t>출처: Bain 2025, Faros AI 2025, 03-preparation-strategy.md §3~4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 / 28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개인 전략: AI 시대에 대체 불가능한 포지션을 확립하라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1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</a:rPr>
              <a:t>핵심 질문: "어떤 AI 도구를 쓸 것인가"가 아니라 "AI 도구 시대에 대체 불가능한 포지션을 어떻게 확립할 것인가"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984248"/>
            <a:ext cx="11091672" cy="1325880"/>
          </a:xfrm>
          <a:prstGeom prst="rect">
            <a:avLst/>
          </a:prstGeom>
          <a:solidFill>
            <a:srgbClr val="FDEDEC"/>
          </a:solidFill>
          <a:ln w="19050">
            <a:solidFill>
              <a:srgbClr val="CB43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2057400"/>
            <a:ext cx="457200" cy="457200"/>
          </a:xfrm>
          <a:prstGeom prst="ellipse">
            <a:avLst/>
          </a:prstGeom>
          <a:solidFill>
            <a:srgbClr val="CB4335"/>
          </a:solidFill>
          <a:ln w="12700">
            <a:solidFill>
              <a:srgbClr val="CB43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70432" y="2075688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B4335"/>
                </a:solidFill>
              </a:rPr>
              <a:t>AI 리터러시 + 도구 숙련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132320" y="2075688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CB4335"/>
                </a:solidFill>
              </a:rPr>
              <a:t>즉시 필요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2459736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• 프롬프트 엔지니어링 — 정밀한 컨텍스트, 범위 제한, 반복 정제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88720" y="269748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• 비판적 평가 역량 — AI 출력의 보안성·정확성 검증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88720" y="2935224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• 도구 전환 유창성 — Copilot·Cursor·Claude Code 상황별 활용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88720" y="317296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• 데이터 리터러시 — AI 출력 불확실성 이해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" y="2980944"/>
            <a:ext cx="10945368" cy="274320"/>
          </a:xfrm>
          <a:prstGeom prst="rect">
            <a:avLst/>
          </a:prstGeom>
          <a:solidFill>
            <a:srgbClr val="CB4335"/>
          </a:solidFill>
          <a:ln w="12700">
            <a:solidFill>
              <a:srgbClr val="CB43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980944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지금 시작: Cursor/Copilot 일상화, AI 생성 코드 리뷰 습관 형성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3401568"/>
            <a:ext cx="11091672" cy="1325880"/>
          </a:xfrm>
          <a:prstGeom prst="rect">
            <a:avLst/>
          </a:prstGeom>
          <a:solidFill>
            <a:srgbClr val="EBF5FB"/>
          </a:solidFill>
          <a:ln w="19050">
            <a:solidFill>
              <a:srgbClr val="1A527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474720"/>
            <a:ext cx="457200" cy="45720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3493008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276"/>
                </a:solidFill>
              </a:rPr>
              <a:t>시스템 사고 + 아키텍처 역량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132320" y="3493008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A5276"/>
                </a:solidFill>
              </a:rPr>
              <a:t>12개월 내 준비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3877056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• AI 에이전트 조율 — 작업 위임, 체크포인트, 결과 검증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88720" y="411480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• AI 워크플로우 재설계 — 요구사항~배포 전 과정 AI 통합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88720" y="4352544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• 레거시 시스템 × AI 통합 역량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" y="4398264"/>
            <a:ext cx="10945368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398264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3~12개월: RAG·AI 에이전트 실습 (LangChain/LlamaIndex), 아키텍처 포트폴리오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4818888"/>
            <a:ext cx="11091672" cy="1325880"/>
          </a:xfrm>
          <a:prstGeom prst="rect">
            <a:avLst/>
          </a:prstGeom>
          <a:solidFill>
            <a:srgbClr val="EAFAF1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" y="4892040"/>
            <a:ext cx="457200" cy="45720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70432" y="4910328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449"/>
                </a:solidFill>
              </a:rPr>
              <a:t>도메인 전문성 × AI 융합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132320" y="4910328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E8449"/>
                </a:solidFill>
              </a:rPr>
              <a:t>장기 차별화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88720" y="5294376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• 금융·의료·법률·제조 등 특정 산업 맥락에서 AI 적용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88720" y="55321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• AI가 모르는 암묵적 지식(tacit knowledge)과 도메인 규제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88720" y="5769864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• 고객 요구사항을 AI가 실행 가능한 시스템으로 변환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" y="5815584"/>
            <a:ext cx="10945368" cy="2743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5815584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1~3년: AI Systems Builder 또는 Domain×AI 전문가 포지션 확립. 임금 프리미엄 56% 보고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8640" y="6245352"/>
            <a:ext cx="11091672" cy="292608"/>
          </a:xfrm>
          <a:prstGeom prst="rect">
            <a:avLst/>
          </a:prstGeom>
          <a:solidFill>
            <a:srgbClr val="F2F3F4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62636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★ 상시 병행: AI 없는 기초 역량 유지 — AI 의존 심화 방지, 장기적 판단력과 AI 오류 감지 능력의 기반  |  출처: 03-preparation-strategy.md §2, 92-strategy-options.md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/ 28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기술 로드맵: 지금부터 36개월까지 단계별 실행 계획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91672" cy="54864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3520440" cy="640080"/>
          </a:xfrm>
          <a:prstGeom prst="rect">
            <a:avLst/>
          </a:prstGeom>
          <a:solidFill>
            <a:srgbClr val="CB4335"/>
          </a:solidFill>
          <a:ln w="12700">
            <a:solidFill>
              <a:srgbClr val="CB43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1965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0~3개월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즉시 실행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89988" y="1911096"/>
            <a:ext cx="237744" cy="237744"/>
          </a:xfrm>
          <a:prstGeom prst="ellipse">
            <a:avLst/>
          </a:prstGeom>
          <a:solidFill>
            <a:srgbClr val="CB433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23160"/>
            <a:ext cx="3520440" cy="3520440"/>
          </a:xfrm>
          <a:prstGeom prst="rect">
            <a:avLst/>
          </a:prstGeom>
          <a:solidFill>
            <a:srgbClr val="FDEDEC"/>
          </a:solidFill>
          <a:ln w="12700">
            <a:solidFill>
              <a:srgbClr val="CB43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514600"/>
            <a:ext cx="33192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• AI 코딩 도구 파일럿 시작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  (5~10명, 측정 기준 사전 정의)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3337560"/>
            <a:ext cx="33192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• AI 생성 코드 보안 스캔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  파이프라인 CI/CD 통합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" y="4160520"/>
            <a:ext cx="33192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• AI 거버넌스 정책 v1 수립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  (Shadow AI, 데이터 입력 기준, IP)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" y="4983480"/>
            <a:ext cx="33192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• [개인] AI 도구 일상화 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  비판적 검토 습관 형성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51960" y="1783080"/>
            <a:ext cx="3520440" cy="6400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181965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3~12개월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제한적 실험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93308" y="1911096"/>
            <a:ext cx="237744" cy="237744"/>
          </a:xfrm>
          <a:prstGeom prst="ellipse">
            <a:avLst/>
          </a:prstGeom>
          <a:solidFill>
            <a:srgbClr val="1A527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2423160"/>
            <a:ext cx="3520440" cy="3520440"/>
          </a:xfrm>
          <a:prstGeom prst="rect">
            <a:avLst/>
          </a:prstGeom>
          <a:solidFill>
            <a:srgbClr val="EBF5FB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61688" y="2514600"/>
            <a:ext cx="33192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• SDLC 전 주기 AI 통합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  (요구사항→설계→코딩→테스트→배포)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61688" y="3337560"/>
            <a:ext cx="33192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• 에이전틱 코딩 제한적 실험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  (반복 피처 개발, CI/CD 자동화)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61688" y="4160520"/>
            <a:ext cx="33192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• 역할 재정의 설계 착수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  (AI 오케스트레이터, 코드 검토 전문가)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61688" y="4983480"/>
            <a:ext cx="33192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• EU AI Act 대응 컴플라이언스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  체계 구축 (EU 시장 대상 기업)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955280" y="1783080"/>
            <a:ext cx="3520440" cy="6400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181965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12~36개월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조건부 확장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596628" y="1911096"/>
            <a:ext cx="237744" cy="237744"/>
          </a:xfrm>
          <a:prstGeom prst="ellipse">
            <a:avLst/>
          </a:prstGeom>
          <a:solidFill>
            <a:srgbClr val="1E844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2423160"/>
            <a:ext cx="3520440" cy="3520440"/>
          </a:xfrm>
          <a:prstGeom prst="rect">
            <a:avLst/>
          </a:prstGeom>
          <a:solidFill>
            <a:srgbClr val="EAFAF1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65008" y="2514600"/>
            <a:ext cx="33192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• 멀티에이전트 파이프라인 조건부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  도입 (SWE-bench 실세계 60%+ 확인 시)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65008" y="3337560"/>
            <a:ext cx="33192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• 조직 구조 조정 (소규모 AI-증강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  팀, 관리 레이어 재정의)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65008" y="4160520"/>
            <a:ext cx="33192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• 오픈소스 모델 자체 호스팅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  평가 (비용/보안/성능 삼각 검토)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65008" y="4983480"/>
            <a:ext cx="331927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• 비개발 부서 AI 리터러시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  프로그램 전사 확산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6537960"/>
            <a:ext cx="11091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</a:rPr>
              <a:t>출처: 00-synthesis.md §10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/ 28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한국 기업은 "시범 도입의 함정"에서 벗어나야 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303520" cy="36576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82496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현황 — 시범 도입에 머무른 한국 기업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5303520" cy="658368"/>
          </a:xfrm>
          <a:prstGeom prst="rect">
            <a:avLst/>
          </a:prstGeom>
          <a:solidFill>
            <a:srgbClr val="FDEDEC"/>
          </a:solidFill>
          <a:ln w="6350">
            <a:solidFill>
              <a:srgbClr val="E6B0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762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AI 도구 도입률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243230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22B21"/>
                </a:solidFill>
              </a:rPr>
              <a:t>55.7~80%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834640" y="2212848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18096"/>
                </a:solidFill>
              </a:rPr>
              <a:t>수치는 높지만 전사 내재화는 미미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2871216"/>
            <a:ext cx="5303520" cy="658368"/>
          </a:xfrm>
          <a:prstGeom prst="rect">
            <a:avLst/>
          </a:prstGeom>
          <a:solidFill>
            <a:srgbClr val="FDFEFE"/>
          </a:solidFill>
          <a:ln w="6350">
            <a:solidFill>
              <a:srgbClr val="E6B0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260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전사 내재화 기업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318211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22B21"/>
                </a:solidFill>
              </a:rPr>
              <a:t>6.7%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34640" y="296265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18096"/>
                </a:solidFill>
              </a:rPr>
              <a:t>도입과 내재화 사이 큰 간극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3621024"/>
            <a:ext cx="5303520" cy="658368"/>
          </a:xfrm>
          <a:prstGeom prst="rect">
            <a:avLst/>
          </a:prstGeom>
          <a:solidFill>
            <a:srgbClr val="FDEDEC"/>
          </a:solidFill>
          <a:ln w="6350">
            <a:solidFill>
              <a:srgbClr val="E6B0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758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AI 로드맵 보유 기업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22B21"/>
                </a:solidFill>
              </a:rPr>
              <a:t>15.5%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834640" y="371246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18096"/>
                </a:solidFill>
              </a:rPr>
              <a:t>전략 없는 도입이 대부분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4370832"/>
            <a:ext cx="5303520" cy="658368"/>
          </a:xfrm>
          <a:prstGeom prst="rect">
            <a:avLst/>
          </a:prstGeom>
          <a:solidFill>
            <a:srgbClr val="FDFEFE"/>
          </a:solidFill>
          <a:ln w="6350">
            <a:solidFill>
              <a:srgbClr val="E6B0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4256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대기업 신입 공채 축소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468172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22B21"/>
                </a:solidFill>
              </a:rPr>
              <a:t>31%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834640" y="446227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18096"/>
                </a:solidFill>
              </a:rPr>
              <a:t>AI 네이티브 경력직 전환 중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5120640"/>
            <a:ext cx="5303520" cy="658368"/>
          </a:xfrm>
          <a:prstGeom prst="rect">
            <a:avLst/>
          </a:prstGeom>
          <a:solidFill>
            <a:srgbClr val="FDEDEC"/>
          </a:solidFill>
          <a:ln w="6350">
            <a:solidFill>
              <a:srgbClr val="E6B0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1755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</a:rPr>
              <a:t>개발자 규모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5431536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22B21"/>
                </a:solidFill>
              </a:rPr>
              <a:t>266만 명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834640" y="521208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18096"/>
                </a:solidFill>
              </a:rPr>
              <a:t>AI 리터러시 수준 미측정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26480" y="1664208"/>
            <a:ext cx="5513832" cy="365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682496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즉시 실행 3원칙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2121408"/>
            <a:ext cx="5513832" cy="1298448"/>
          </a:xfrm>
          <a:prstGeom prst="rect">
            <a:avLst/>
          </a:prstGeom>
          <a:solidFill>
            <a:srgbClr val="EBF5FB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99632" y="2212848"/>
            <a:ext cx="457200" cy="45720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9632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48272" y="221284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C1"/>
                </a:solidFill>
              </a:rPr>
              <a:t>파일럿 즉시 시작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2596896"/>
            <a:ext cx="5303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5~10명 팀으로 Cursor/Copilot 파일럿을 즉시 시작하라. 준비가 완벽해질 때까지 기다리지 말라. 3개월 후 학습만으로도 경쟁력 격차가 벌어진다.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26480" y="3511296"/>
            <a:ext cx="5513832" cy="1298448"/>
          </a:xfrm>
          <a:prstGeom prst="rect">
            <a:avLst/>
          </a:prstGeom>
          <a:solidFill>
            <a:srgbClr val="EBF5FB"/>
          </a:solidFill>
          <a:ln w="19050">
            <a:solidFill>
              <a:srgbClr val="1A527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99632" y="3602736"/>
            <a:ext cx="457200" cy="45720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9632" y="3602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48272" y="360273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</a:rPr>
              <a:t>거버넌스 선행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3986784"/>
            <a:ext cx="5303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도구 확산 전에 보안 가이드라인, 데이터 입력 기준, IP 책임을 명확히 하라. Shadow AI는 이미 진행 중이며 관리되지 않으면 데이터 유출 경로가 된다.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26480" y="4901184"/>
            <a:ext cx="5513832" cy="1298448"/>
          </a:xfrm>
          <a:prstGeom prst="rect">
            <a:avLst/>
          </a:prstGeom>
          <a:solidFill>
            <a:srgbClr val="EBF5FB"/>
          </a:solidFill>
          <a:ln w="19050">
            <a:solidFill>
              <a:srgbClr val="117A6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99632" y="4992624"/>
            <a:ext cx="457200" cy="457200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99632" y="4992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48272" y="4992624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7A65"/>
                </a:solidFill>
              </a:rPr>
              <a:t>성과 측정 기준 전환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17920" y="5376672"/>
            <a:ext cx="5303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"코드 생성량" 대신 출시 주기 단축, 버그 발생률 감소, 개발자 만족도로 측정하라. 잘못된 지표는 AI 도구 효과를 왜곡하고 잘못된 의사결정으로 이어진다.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6537960"/>
            <a:ext cx="11091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</a:rPr>
              <a:t>출처: 00-synthesis.md — 한국 맥락 특수 고려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/ 28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판단이 틀렸을 때 무엇을 잃는가 — 오판 리스크와 모니터링 지표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91672" cy="5029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45920"/>
            <a:ext cx="10835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⚠ 가장 위험한 오판: "AI 도구가 보조 수준에 머물 것"이라 판단하여 아무것도 하지 않는 것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→ 시나리오 D(기술 정체) 확률은 10~15%에 불과. 나머지 85~90%에서는 AI 준비가 경쟁력을 좌우한다.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21284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</a:rPr>
              <a:t>5대 오판 리스크</a:t>
            </a:r>
            <a:endParaRPr lang="en-US" sz="10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53035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18288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판단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틀릴 경우 상황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손실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제한적 도입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</a:rPr>
                        <a:t>AI가 예상보다 빨리 성숙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B4335"/>
                          </a:solidFill>
                        </a:rPr>
                        <a:t>경쟁사 대비 뒤처짐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에이전틱 적극 투자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</a:rPr>
                        <a:t>기술 정체(시나리오 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B4335"/>
                          </a:solidFill>
                        </a:rPr>
                        <a:t>과잉 투자 손실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주니어 채용 축소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</a:rPr>
                        <a:t>소프트웨어 수요 폭발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B4335"/>
                          </a:solidFill>
                        </a:rPr>
                        <a:t>인재 파이프라인 고갈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AI 도구 사용 제한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</a:rPr>
                        <a:t>보안 도구 빠른 성숙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B4335"/>
                          </a:solidFill>
                        </a:rPr>
                        <a:t>불필요한 혁신 지연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</a:rPr>
                        <a:t>관망 (전사 확산 지연)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</a:rPr>
                        <a:t>글로벌 AI-first 전환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B4335"/>
                          </a:solidFill>
                        </a:rPr>
                        <a:t>경쟁력 격차 확대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126480" y="2212848"/>
            <a:ext cx="5513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F36"/>
                </a:solidFill>
              </a:rPr>
              <a:t>7대 선행지표 + 전환 트리거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26480" y="2514600"/>
            <a:ext cx="5513832" cy="521208"/>
          </a:xfrm>
          <a:prstGeom prst="rect">
            <a:avLst/>
          </a:prstGeom>
          <a:solidFill>
            <a:srgbClr val="F4F6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26480" y="2514600"/>
            <a:ext cx="164592" cy="5212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55080" y="2551176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</a:rPr>
              <a:t>SWE-bench 실세계 점수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355080" y="278892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→ 60%+ 달성 시 → 에이전틱 코딩 본격 도입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126480" y="3081528"/>
            <a:ext cx="5513832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26480" y="3081528"/>
            <a:ext cx="164592" cy="5212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55080" y="3118104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</a:rPr>
              <a:t>Fortune 500 AI 코드 보안 사고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355080" y="3355848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→ 발생 시 → 거버넌스 가속, 에이전틱 감속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126480" y="3648456"/>
            <a:ext cx="5513832" cy="521208"/>
          </a:xfrm>
          <a:prstGeom prst="rect">
            <a:avLst/>
          </a:prstGeom>
          <a:solidFill>
            <a:srgbClr val="F4F6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26480" y="3648456"/>
            <a:ext cx="164592" cy="5212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55080" y="3685032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</a:rPr>
              <a:t>AI 도구 구독 해지율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355080" y="3922776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→ 20%+ 시 → 투자 재검토, ROI 측정 강화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126480" y="4215384"/>
            <a:ext cx="5513832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26480" y="4215384"/>
            <a:ext cx="164592" cy="5212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55080" y="4251960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</a:rPr>
              <a:t>주니어 개발자 채용 비율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355080" y="448970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→ 30%+ 감소 지속 → 교육 프로그램 강화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126480" y="4782312"/>
            <a:ext cx="5513832" cy="521208"/>
          </a:xfrm>
          <a:prstGeom prst="rect">
            <a:avLst/>
          </a:prstGeom>
          <a:solidFill>
            <a:srgbClr val="F4F6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126480" y="4782312"/>
            <a:ext cx="164592" cy="5212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55080" y="481888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</a:rPr>
              <a:t>Gartner Hype Cycle 위치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355080" y="5056632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→ 환멸 단계 진입 시 → 기대 수준 재조정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126480" y="5349240"/>
            <a:ext cx="5513832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126480" y="5349240"/>
            <a:ext cx="164592" cy="5212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55080" y="5385816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</a:rPr>
              <a:t>오픈소스 vs 상용 벤치마크 격차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355080" y="562356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→ 오픈소스 정기 추월 → 자체 호스팅 검토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126480" y="5916168"/>
            <a:ext cx="5513832" cy="521208"/>
          </a:xfrm>
          <a:prstGeom prst="rect">
            <a:avLst/>
          </a:prstGeom>
          <a:solidFill>
            <a:srgbClr val="F4F6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126480" y="5916168"/>
            <a:ext cx="164592" cy="5212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355080" y="5952744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</a:rPr>
              <a:t>EU AI Act 최초 대규모 벌금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355080" y="6190488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→ 발생 시 → 컴플라이언스 체계 점검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548640" y="6537960"/>
            <a:ext cx="11091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18096"/>
                </a:solidFill>
              </a:rPr>
              <a:t>출처: 00-synthesis.md §9, §11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 / 28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도구는 이미 왔다. 문제는 "도입 여부"가 아니라 "통제된 도입"이다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</a:rPr>
              <a:t>5가지 핵심 발견 요약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420624" cy="42062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385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78992" y="1938528"/>
            <a:ext cx="10561320" cy="749808"/>
          </a:xfrm>
          <a:prstGeom prst="rect">
            <a:avLst/>
          </a:prstGeom>
          <a:solidFill>
            <a:srgbClr val="F8F9FA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" y="1938528"/>
            <a:ext cx="128016" cy="7498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993392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86C1"/>
                </a:solidFill>
              </a:rPr>
              <a:t>AI 생산성은 조건부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80160" y="2286000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단순 과제 +30~50%, 조직 수준은 프로세스 변화 없이 10~15%가 상한. 도구만 도입하면 안정성이 오히려 7.2% 저하될 수 있다.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420624" cy="420624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072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78992" y="2807208"/>
            <a:ext cx="10561320" cy="749808"/>
          </a:xfrm>
          <a:prstGeom prst="rect">
            <a:avLst/>
          </a:prstGeom>
          <a:solidFill>
            <a:srgbClr val="F8F9FA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78992" y="2807208"/>
            <a:ext cx="128016" cy="7498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2862072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8449"/>
                </a:solidFill>
              </a:rPr>
              <a:t>진짜 병목은 기술이 아니라 거버넌스·프로세스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80160" y="3154680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95%가 사용 중임에도 전사 내재화 6.7%. 채택의 장벽은 도구 품질이 아니라 조직 거버넌스와 프로세스 재설계다.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675888"/>
            <a:ext cx="420624" cy="420624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758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78992" y="3675888"/>
            <a:ext cx="10561320" cy="749808"/>
          </a:xfrm>
          <a:prstGeom prst="rect">
            <a:avLst/>
          </a:prstGeom>
          <a:solidFill>
            <a:srgbClr val="F8F9FA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8992" y="3675888"/>
            <a:ext cx="128016" cy="7498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3730752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44AD"/>
                </a:solidFill>
              </a:rPr>
              <a:t>수혜 귀속이 비대칭적이다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280160" y="4023360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최대 수혜자: 플랫폼 제공자 &gt; AI 조기 채택 대기업 &gt; 시니어 개발자. 주니어 개발자는 기회 자체가 축소 중이며 역할 재정의가 시급하다.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4544568"/>
            <a:ext cx="420624" cy="420624"/>
          </a:xfrm>
          <a:prstGeom prst="ellipse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5445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78992" y="4544568"/>
            <a:ext cx="10561320" cy="749808"/>
          </a:xfrm>
          <a:prstGeom prst="rect">
            <a:avLst/>
          </a:prstGeom>
          <a:solidFill>
            <a:srgbClr val="F8F9FA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78992" y="4544568"/>
            <a:ext cx="128016" cy="749808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80160" y="4599432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950B"/>
                </a:solidFill>
              </a:rPr>
              <a:t>4개 시나리오 중 "점진적 통합"이 50~60%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280160" y="4892040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그러나 나머지 40~50%도 무시 불가. 기준 시나리오 중심 설계 + 규제·정체 방어 내장 + 수요폭발 업사이드 유지가 최선의 포트폴리오 전략이다.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5413248"/>
            <a:ext cx="420624" cy="420624"/>
          </a:xfrm>
          <a:prstGeom prst="ellipse">
            <a:avLst/>
          </a:prstGeom>
          <a:solidFill>
            <a:srgbClr val="CB4335"/>
          </a:solidFill>
          <a:ln w="12700">
            <a:solidFill>
              <a:srgbClr val="CB43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4132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78992" y="5413248"/>
            <a:ext cx="10561320" cy="749808"/>
          </a:xfrm>
          <a:prstGeom prst="rect">
            <a:avLst/>
          </a:prstGeom>
          <a:solidFill>
            <a:srgbClr val="F8F9FA"/>
          </a:solidFill>
          <a:ln w="12700">
            <a:solidFill>
              <a:srgbClr val="CB43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78992" y="5413248"/>
            <a:ext cx="128016" cy="749808"/>
          </a:xfrm>
          <a:prstGeom prst="rect">
            <a:avLst/>
          </a:prstGeom>
          <a:solidFill>
            <a:srgbClr val="CB4335"/>
          </a:solidFill>
          <a:ln w="12700">
            <a:solidFill>
              <a:srgbClr val="CB43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80160" y="5468112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B4335"/>
                </a:solidFill>
              </a:rPr>
              <a:t>가장 위험한 오판은 "아무것도 하지 않는 것"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280160" y="5760720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기술 정체(시나리오 D) 확률은 10~15%에 불과. 지금 파일럿을 시작하지 않으면 3개월 후 경쟁사와 학습 격차가 돌이킬 수 없이 벌어진다.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6291072"/>
            <a:ext cx="11091672" cy="475488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0936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지금 할 것:  파일럿 시작  |  거버넌스 수립  |  프로세스 재설계  |  역할 재정의 설계  |  선행지표 모니터링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 / 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2026-03-25T01:12:44Z</dcterms:created>
  <dcterms:modified xsi:type="dcterms:W3CDTF">2026-03-25T01:12:44Z</dcterms:modified>
</cp:coreProperties>
</file>