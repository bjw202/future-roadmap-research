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R&amp;D 프론티어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기술이 만드는 통합 혁신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공정 제어  ·  빔 쉐이핑(ARM)  ·  레이저 세정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Laser R&amp;D  |  2026.03.26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38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ARM 빔 쉐이핑: 장비 효율의 구조적 전환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80076" y="1645920"/>
            <a:ext cx="18288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1:4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ARM 빔 쉐이핑 장비 대체 효과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3886200"/>
            <a:ext cx="9445752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3977640"/>
            <a:ext cx="9079992" cy="9601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nLIGHT AFX 1대가 표준 레이저 4대를 대체  |  Coherent ARM 스패터 90%+ 감소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이종금속(Cu-Al) 용접 품질 일관성 대폭 향상  ·  EOS·DMG Mori 등 다수 OEM 채택 진행 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5212080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▲ EOS/DMG Mori 등 다수 OEM 채택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38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R&amp;D Frontier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2011680"/>
            <a:ext cx="615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25146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R&amp;D 프론티어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0" y="3337560"/>
            <a:ext cx="27432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3474720"/>
            <a:ext cx="61539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이 기술들인가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공정 제어, 빔 쉐이핑(ARM), 레이저 세정 — 3가지 기술이 독립적으로 발전하는 동시에 통합 시너지를 형성하는 구조적 전환점에 도달했다.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38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R&amp;D의 3가지 구조적 압력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EV·디스플레이 공정 정밀도 요구 급증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Cu-Al 이종금속 IMC 제어 필요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 대면적 균일도 요구 증가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UTG 마이크로크랙 억제 과제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기존 단일 빔 레이저로는 한계 도달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중국 표준 레이저 경쟁 심화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IPG Photonics 매출 -22% YoY (2023)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중국산 저가 파이버 레이저 점유율 급등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가격 경쟁 불가 → 소프트웨어·AI 차별화가 생존 전략으로 부상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EU 환경규제 → 화학 전처리 대체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REACH 규제: VOC 용제 사용 제한 강화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용제 폐기 비용 드럼당 $200+ 수준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세정이 친환경 대안으로 급부상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규제가 채택을 가속하는 구조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251960"/>
            <a:ext cx="11055096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인사이트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1063447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압력은 동시에 작용한다. 수요 측 정밀도 요구 + 공급 측 가격 경쟁 + 규제 측 환경 압박이 중첩되면서 "소프트웨어·AI·공정 통합"을 통한 차별화가 선택이 아닌 필수가 되었다.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38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vs 미래: 장비 판매에서 통합 솔루션으로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5911596" cy="47548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5" name="Shape 3"/>
          <p:cNvSpPr/>
          <p:nvPr/>
        </p:nvSpPr>
        <p:spPr>
          <a:xfrm>
            <a:off x="6277356" y="1645920"/>
            <a:ext cx="5362956" cy="47548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77356" y="1691640"/>
            <a:ext cx="5362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362956" cy="914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6277356" y="2103120"/>
            <a:ext cx="5362956" cy="91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5088636" cy="3931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공정별 전용 장비 — 유연성 없음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파라미터 수동 설정 — 전문 인력 의존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전처리 외주 — 비용·리드타임 증가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 품질 검사 — 불량 발견 시 이미 손실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판매 1회성 수익 구조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94560"/>
            <a:ext cx="5088636" cy="3931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플랫폼 + AI 자동 최적화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파라미터 자동 조정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레이저 세정 통합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폐루프 제어 — 불량률 최소화</a:t>
            </a:r>
            <a:endParaRPr lang="en-US" sz="1500" dirty="0"/>
          </a:p>
          <a:p>
            <a:pPr>
              <a:lnSpc>
                <a:spcPct val="155000"/>
              </a:lnSpc>
              <a:spcAft>
                <a:spcPts val="600"/>
              </a:spcAft>
            </a:pPr>
            <a:r>
              <a:rPr lang="en-US" sz="15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HeSaaS — 구독·서비스 기반 반복 수익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38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R&amp;D 도전 과제: 3가지 프론티어의 현주소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45720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148279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기반 공정 제어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304288"/>
            <a:ext cx="3148279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59152"/>
            <a:ext cx="3148279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가능 (양산·파일럿)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70048"/>
            <a:ext cx="3148279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모니터링·이상감지 양산 적용 중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 분광, OCT 센서 통합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IPG LDD, Precitec WeldMaster 출시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3239719" cy="292608"/>
          </a:xfrm>
          <a:prstGeom prst="roundRect">
            <a:avLst>
              <a:gd name="adj" fmla="val 18750"/>
            </a:avLst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87952"/>
            <a:ext cx="3148279" cy="23774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3~5년 R&amp;D 과제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3148279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자율 폐루프 제어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파라미터 실시간 자동 조정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멀티-공정 범용 제어 AI (R&amp;D)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6999" y="1645920"/>
            <a:ext cx="3514039" cy="45720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519879" y="1783080"/>
            <a:ext cx="3148279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쉐이핑 (ARM)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19879" y="2304288"/>
            <a:ext cx="3148279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519879" y="2359152"/>
            <a:ext cx="3148279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가능 (양산·파일럿)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19879" y="2670048"/>
            <a:ext cx="3148279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ARM(코어+링) 양산 적용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nLIGHT AFX, Coherent ARM 출시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EOS·DMG Mori OEM 채택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74159" y="4160520"/>
            <a:ext cx="3239719" cy="292608"/>
          </a:xfrm>
          <a:prstGeom prst="roundRect">
            <a:avLst>
              <a:gd name="adj" fmla="val 18750"/>
            </a:avLst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4519879" y="4187952"/>
            <a:ext cx="3148279" cy="23774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3~5년 R&amp;D 과제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19879" y="4498848"/>
            <a:ext cx="3148279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SLM(Spatially Localized Modulation)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초고속 동적 빔 분포 제어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멀티-빔 동시 독립 제어 (연구)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5358" y="1645920"/>
            <a:ext cx="3514039" cy="457200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8308238" y="1783080"/>
            <a:ext cx="3148279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세정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308238" y="2304288"/>
            <a:ext cx="3148279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308238" y="2359152"/>
            <a:ext cx="3148279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가능 (양산·파일럿)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08238" y="2670048"/>
            <a:ext cx="3148279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표면 산화물·오일 제거 양산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자동차·항공우주 생산라인 적용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Laser Photonics, Clean-Lasersysteme 공급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62518" y="4160520"/>
            <a:ext cx="3239719" cy="292608"/>
          </a:xfrm>
          <a:prstGeom prst="roundRect">
            <a:avLst>
              <a:gd name="adj" fmla="val 18750"/>
            </a:avLst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8308238" y="4187952"/>
            <a:ext cx="3148279" cy="23774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3~5년 R&amp;D 과제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08238" y="4498848"/>
            <a:ext cx="3148279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웨이퍼 세정 파일럿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극자외선(EUV) 포토마스크 세정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유리·세라믹 미세 세정 (R&amp;D)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38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2011680"/>
            <a:ext cx="615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25146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인사이트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0" y="3337560"/>
            <a:ext cx="2743200" cy="3657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3474720"/>
            <a:ext cx="61539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기술이 아닌 통합 포트폴리오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기술은 각각 독립적 가치를 지니지만, 조합할 때 비로소 기존 솔루션으로 불가능했던 공정 결과를 만들어낸다. 포트폴리오 통합이 진짜 차별화 지점이다.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38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 통합 라인: 3가지 기술 1개 라인에서 검증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98878" cy="4389120"/>
          </a:xfrm>
          <a:prstGeom prst="roundRect">
            <a:avLst>
              <a:gd name="adj" fmla="val 3660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1998878" cy="228600"/>
          </a:xfrm>
          <a:prstGeom prst="roundRect">
            <a:avLst>
              <a:gd name="adj" fmla="val 32000"/>
            </a:avLst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47672"/>
            <a:ext cx="18159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소재 투입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815998" cy="2651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Cu-Al 이종금속 판재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EV 배터리 탭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파라미터 자동 인식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47518" y="3657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21838" y="1645920"/>
            <a:ext cx="1998878" cy="4389120"/>
          </a:xfrm>
          <a:prstGeom prst="roundRect">
            <a:avLst>
              <a:gd name="adj" fmla="val 3660"/>
            </a:avLst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2821838" y="1645920"/>
            <a:ext cx="1998878" cy="228600"/>
          </a:xfrm>
          <a:prstGeom prst="roundRect">
            <a:avLst>
              <a:gd name="adj" fmla="val 32000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2913278" y="1947672"/>
            <a:ext cx="18159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13278" y="237744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세정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3278" y="3017520"/>
            <a:ext cx="1815998" cy="2651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산화물·오일 제거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세정 (무화학)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REACH 규제 대응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0717" y="3657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95037" y="1645920"/>
            <a:ext cx="1998878" cy="4389120"/>
          </a:xfrm>
          <a:prstGeom prst="roundRect">
            <a:avLst>
              <a:gd name="adj" fmla="val 3660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95037" y="1645920"/>
            <a:ext cx="1998878" cy="228600"/>
          </a:xfrm>
          <a:prstGeom prst="roundRect">
            <a:avLst>
              <a:gd name="adj" fmla="val 32000"/>
            </a:avLst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5186477" y="1947672"/>
            <a:ext cx="18159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86477" y="237744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ARM 빔 쉐이핑 용접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86477" y="3017520"/>
            <a:ext cx="1815998" cy="2651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코어:링 비율 실시간 조정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IMC 두께 5µm 이하 제어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스패터 90%+ 감소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93915" y="3657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68235" y="1645920"/>
            <a:ext cx="1998878" cy="4389120"/>
          </a:xfrm>
          <a:prstGeom prst="roundRect">
            <a:avLst>
              <a:gd name="adj" fmla="val 3660"/>
            </a:avLst>
          </a:prstGeom>
          <a:solidFill>
            <a:srgbClr val="F7F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8235" y="1645920"/>
            <a:ext cx="1998878" cy="228600"/>
          </a:xfrm>
          <a:prstGeom prst="roundRect">
            <a:avLst>
              <a:gd name="adj" fmla="val 32000"/>
            </a:avLst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7459675" y="1947672"/>
            <a:ext cx="18159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9675" y="237744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모니터링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9675" y="3017520"/>
            <a:ext cx="1815998" cy="2651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 분광 실시간 분석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OCT 용입깊이 측정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즉시 경보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67114" y="3657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41434" y="1645920"/>
            <a:ext cx="1998878" cy="4389120"/>
          </a:xfrm>
          <a:prstGeom prst="roundRect">
            <a:avLst>
              <a:gd name="adj" fmla="val 3660"/>
            </a:avLst>
          </a:prstGeom>
          <a:solidFill>
            <a:srgbClr val="F7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9641434" y="1645920"/>
            <a:ext cx="1998878" cy="228600"/>
          </a:xfrm>
          <a:prstGeom prst="roundRect">
            <a:avLst>
              <a:gd name="adj" fmla="val 32000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9732874" y="1947672"/>
            <a:ext cx="18159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32874" y="2377440"/>
            <a:ext cx="1815998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양품 출하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32874" y="3017520"/>
            <a:ext cx="1815998" cy="2651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폐루프 검증 완료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데이터 자동 기록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불량률 최소화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38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3대 시너지 시나리오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 통합 (R1+R2+R3)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기술: AI 모니터링 + ARM 빔 쉐이핑 + 레이저 세정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시장: EV 배터리 탭 용접 ($3.2B)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높은 ROI — 세 기술이 동일 공정에서 동시 적용 가능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단기 공략 1순위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수율 향상 (DOE+AI+세정)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기술: DOE 균일화 + AI 공정 제어 + 세정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시장: 대면적 플렉시블 디스플레이 OLED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대면적 균일도 문제 해결이 핵심 병목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중기 공략 2순위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범용 레이저 플랫폼 (HeSaaS)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기술: ARM + AI + 인라인 세정 통합 플랫폼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공정별 전용 장비 → 소프트웨어 구독 전환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구독·유지보수·데이터 서비스 반복 수익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장기 전략 비전 (3~5년)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251960"/>
            <a:ext cx="11055096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70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 판단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10634472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1은 기술 준비도와 시장 규모가 모두 높다. 시나리오 2는 고객 Pain Point가 명확하나 검증 기간이 필요하다. 시나리오 3은 장기적 플랫폼 비전으로, 지금은 인프라 구축 단계다.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38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기반 → 전용 응용: 투자 효율의 핵심 원칙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5676" y="4815840"/>
            <a:ext cx="3657600" cy="1402080"/>
          </a:xfrm>
          <a:prstGeom prst="roundRect">
            <a:avLst>
              <a:gd name="adj" fmla="val 3913"/>
            </a:avLst>
          </a:prstGeom>
          <a:solidFill>
            <a:srgbClr val="FFB020"/>
          </a:solidFill>
          <a:ln/>
        </p:spPr>
      </p:sp>
      <p:sp>
        <p:nvSpPr>
          <p:cNvPr id="5" name="Text 3"/>
          <p:cNvSpPr/>
          <p:nvPr/>
        </p:nvSpPr>
        <p:spPr>
          <a:xfrm>
            <a:off x="4494276" y="4907280"/>
            <a:ext cx="1645920" cy="1219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기반 레이어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4476" y="4907280"/>
            <a:ext cx="1719072" cy="1219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인프라 / 데이터 파이프라인 / 광학 설계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07158" y="3276600"/>
            <a:ext cx="7374636" cy="1402080"/>
          </a:xfrm>
          <a:prstGeom prst="roundRect">
            <a:avLst>
              <a:gd name="adj" fmla="val 3913"/>
            </a:avLst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2635758" y="3368040"/>
            <a:ext cx="3318586" cy="1219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모듈 레이어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4476" y="3368040"/>
            <a:ext cx="3466079" cy="1219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빔 쉐이핑 / AI 모니터링 / 인라인 세정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11091672" cy="1402080"/>
          </a:xfrm>
          <a:prstGeom prst="roundRect">
            <a:avLst>
              <a:gd name="adj" fmla="val 3913"/>
            </a:avLst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4991252" cy="1219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전용 응용 레이어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4476" y="1828800"/>
            <a:ext cx="5213086" cy="1219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IMC 제어 / LLO 균일화 / 세정+텍스처링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6236208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38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Process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0" y="2011680"/>
            <a:ext cx="6153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3-1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25146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기반 실시간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공정 제어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0" y="370332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3840480"/>
            <a:ext cx="6153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데이터 → AI 판단 → 자동 조정의 4단계 성숙도 구조를 이해하면, 현재 양산 가능한 기술과 3~5년 R&amp;D가 필요한 기술을 명확히 구분할 수 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38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공정 제어의 4단계 성숙도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9445752" cy="982980"/>
          </a:xfrm>
          <a:prstGeom prst="roundRect">
            <a:avLst>
              <a:gd name="adj" fmla="val 7442"/>
            </a:avLst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691640"/>
            <a:ext cx="3503981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L1  센서 데이터 수집 (인프라)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38816" y="1691640"/>
            <a:ext cx="5289621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포토다이오드 / 고속 카메라 / OCT(광학 간섭 단층) / 플라즈마 분광 / LIBS — 모든 AI의 기초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9994392" cy="982980"/>
          </a:xfrm>
          <a:prstGeom prst="roundRect">
            <a:avLst>
              <a:gd name="adj" fmla="val 7442"/>
            </a:avLst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65960"/>
            <a:ext cx="3723437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L2  AI 모니터링·이상감지 (양산 검증)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94925" y="1965960"/>
            <a:ext cx="5596860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포토다이오드·카메라 기반 이상 감지 / 용접 불량 실시간 경보 / Precitec WeldMaster·IPG LDD 출시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0543032" cy="982980"/>
          </a:xfrm>
          <a:prstGeom prst="roundRect">
            <a:avLst>
              <a:gd name="adj" fmla="val 7442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40280"/>
            <a:ext cx="3942893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L3  인간+AI 협력 제어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1033" y="2240280"/>
            <a:ext cx="5904098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경보 → 작업자 수동 조정 / 실질적 품질 향상 확인 / EWI·IPG 파일럿 적용 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1091672" cy="982980"/>
          </a:xfrm>
          <a:prstGeom prst="roundRect">
            <a:avLst>
              <a:gd name="adj" fmla="val 7442"/>
            </a:avLst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14600"/>
            <a:ext cx="4162349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L4  AI 자율 폐루프 (R&amp;D — Hype 주의)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07142" y="2514600"/>
            <a:ext cx="6211336" cy="835533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자동 파라미터 조정 / 사람 개입 없는 실시간 최적화 / 양산 적용 사례 극소수 — 현재 연구 단계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38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센서 × AI 모델 × 공정: 적용 매트릭스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194560"/>
                <a:gridCol w="1828800"/>
                <a:gridCol w="1947672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센서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모델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성숙도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우선순위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 용접 (Cu-Al)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분광(플라즈마) + IR 카메라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CNN + DNN 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 → 양산 전환 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(디스플레이 분리)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분광 + OCT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CNN 기반 수율 예측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 (파일럿 초기)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LILE (유리 내부 각인)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OCT + 고속 비전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CNN 결함 분류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글라스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카메라 + IR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CNN 균열 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Selective 표면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포토다이오드 + LIBS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CNN 조성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38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 AI: 세 접근법의 역할 분담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251960"/>
          </a:xfrm>
          <a:prstGeom prst="roundRect">
            <a:avLst>
              <a:gd name="adj" fmla="val 2151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낮음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플라즈마 분광 모니터링 → IMC 징후 감지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715768"/>
            <a:ext cx="5074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원리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28346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 방출 분광으로 Cu/Al 증기비 실시간 감지 → IMC 형성 전조 포착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35661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IMC 전용 사례 없음. 분광 모니터링 자체는 Ti/Al 용접에서 연구 수준 검증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42976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용접 풀 내부 IMC 생성과 분광 신호 간 정량적 상관관계 미확립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권고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502920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도입 불가 — 12개월 데이터 수집 후 파일럿 검토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77356" y="1691640"/>
            <a:ext cx="5362956" cy="4251960"/>
          </a:xfrm>
          <a:prstGeom prst="roundRect">
            <a:avLst>
              <a:gd name="adj" fmla="val 2151"/>
            </a:avLst>
          </a:prstGeom>
          <a:solidFill>
            <a:srgbClr val="F7F9FC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182880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828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높음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19088" y="2212848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Precitec LWM AI → OK/NOK 자동 판정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19088" y="2715768"/>
            <a:ext cx="5074920" cy="1828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28346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원리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70648" y="28346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광다이오드 + 고속카메라로 용접 풀 감지, CNN 기반 OK/NOK 자동 판정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10528" y="35661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70648" y="35661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 배터리 모듈 용접 24/7 양산 적용 — 실측 성과 다수 확인됨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42976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강점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70648" y="42976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IMC 제어보다 결함 감지 영역. 후속 리젝션 자동화로 직접 수율 연결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10528" y="5029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권고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70648" y="502920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빔 쉐이핑과 결합 시 즉시 도입 가능 — 가장 현실적 경로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91672" cy="38404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035040"/>
            <a:ext cx="54864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6035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 원칙: 모니터링 먼저(Precitec LWM) → 데이터 확보 후 단계적 폐루프 — 순서 역전 금지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38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탄화 감지 + 에너지 보정: 가능성과 한계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5720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4E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⚠  탄화율 감소 50~70% 수치는 근거 없는 추정 — Critic N1 지적. 이 수치를 투자 판단 근거로 사용하지 말 것.  [확신도: 매우 낮음]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86000"/>
            <a:ext cx="3529584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시나리오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3200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944368"/>
            <a:ext cx="164592" cy="16459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907792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+ 분광 센서로 LLO 공정 중 탄화 실시간 감지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164592" cy="16459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66674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탄화 신호 임계값 초과 시 → 레이저 에너지 자동 감쇄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462272"/>
            <a:ext cx="164592" cy="16459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425696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이론적 원리: 분광 발광비(CN band / C2 band) 변화 = 탄화 전조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221224"/>
            <a:ext cx="164592" cy="16459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184648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 자체는 물리적으로 타당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9392" y="22860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2286000"/>
            <a:ext cx="3529584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현실적 제약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62272" y="2788920"/>
            <a:ext cx="3200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2272" y="2944368"/>
            <a:ext cx="164592" cy="16459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2907792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 공정 탄화 전용 AI 사례 데이터 없음 — 산업계 미확인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62272" y="3703320"/>
            <a:ext cx="164592" cy="16459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66674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유리/OLED 계면 반응 특이성: 일반 금속 분광 모델 직접 이전 불가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4462272"/>
            <a:ext cx="164592" cy="16459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4425696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 보정 응답 속도 vs LLO 공정 속도 정합성 검증 필요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62272" y="5221224"/>
            <a:ext cx="164592" cy="16459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5184648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 확보에 최소 12개월 소요 예상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0144" y="22860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28432" y="2286000"/>
            <a:ext cx="3529584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현실적 접근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93024" y="2788920"/>
            <a:ext cx="3200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8193024" y="2944368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0768" y="2907792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즉시: 기존 LLO 라인에 분광 센서 부착 → 탄화 데이터 수집 시작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93024" y="370332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0768" y="366674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 후: 탄화 신호-품질 상관관계 분석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93024" y="4462272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0768" y="4425696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12개월 후: 상관관계 확인 시 에너지 보정 파일럿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93024" y="5221224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30768" y="5184648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가치: 데이터 자산 = 경쟁사 대비 AI 모델 차별화 해자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38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645920"/>
            <a:ext cx="6153912" cy="1371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쉐이핑 +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SLM 홀로그래픽 공정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ARM/AFX — 지금 도입 가능한 게임체인저부터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SLM 홀로그래픽 — 연구 흥미도 높으나 양산 5년+까지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0" y="4389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4389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ARM/AFX — 즉시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4389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4A7BF7"/>
          </a:solidFill>
          <a:ln w="127">
            <a:solidFill>
              <a:srgbClr val="4A7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4389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DOE — 저비용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4389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4389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SLM — 장기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5가지 빔 쉐이핑 방식 비교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15998"/>
                <a:gridCol w="1815998"/>
                <a:gridCol w="1815998"/>
                <a:gridCol w="1815998"/>
                <a:gridCol w="1815998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/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ARM / AFX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변형 거울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SLM (LCoS)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CBC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kW+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kW+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~1.4 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kW+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µs (초고속)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(수동)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 유연성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 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완전 유연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 (다수 OEM)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 (Holoor)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1672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▶  즉시 투자 우선순위: ARM/AFX (양산+최고효과) → DOE (저비용 LLO) → 변형거울 (파일럿) ── SLM/CBC는 선행연구 수준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38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ARM / AFX: 지금 도입 가능한 게임체인저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62956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1051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nLIGHT AFX-2000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49834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2316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963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7단계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2514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코어:링 비율 (µs 전환)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9443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공정별 최적 패턴 즉시 전환 — 용접·절삭·표면처리 단일 장비 대응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584448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57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1대 = 4대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23160" y="3675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장비 대체 효과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10565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EOS &amp; DMG Mori LPBF 시스템 채택. 설비 투자 및 바닥면적 대폭 절감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4745736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188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커스텀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423160" y="48371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프로파일 자유도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26694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 / 탑햇 / 가우시안 — 소재·두께별 최적 프로파일 적용 가능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77356" y="169164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7F9FC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7356" y="1691640"/>
            <a:ext cx="536295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81051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Coherent ARM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2286000"/>
            <a:ext cx="4983480" cy="91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242316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496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스패터 90%+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03920" y="2514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Cu-Al 용접 스패터 감소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9443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탭 Cu-Al 이종금속 용접. 링 빔으로 용융 풀 안정화 — 양산 실증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46520" y="3584448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IMC 억제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503920" y="3675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금속간 화합물 생성 감소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10565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코어:링 비율로 열구배 제어 → IMC 두께 감소. Cu-Al 용접의 핵심 과제 해결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46520" y="4745736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818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EV 배터리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503920" y="48371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직접 연결 시장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526694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$3.2B 레이저 배터리 용접 시장. 세정 전처리 + ARM 용접 조합으로 1라인 완결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38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DOE 기반 LLO 균일화: 저투자 고효과 경로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0233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1078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4E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⚠  수율 향상 5~15%p는 출처 부재 추정값 — Critic N2 지적. 현재 근거 없음.  [확신도: 낮음]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40280"/>
            <a:ext cx="3346704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591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±15% → ±3%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3035808"/>
            <a:ext cx="3108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906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엑시머 라인빔 균일도 개선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DOE 삽입 후 목표 시나리오 (시뮬레이션 기반)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22402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2240280"/>
            <a:ext cx="3346704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3591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389120" y="3035808"/>
            <a:ext cx="3108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0906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초기 투자 수준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474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DOE 광학 소자 교체만으로 기존 라인 적용 — 장비 교체 불필요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2240280"/>
            <a:ext cx="3346704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35915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6개월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092440" y="3035808"/>
            <a:ext cx="3108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30906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파일럿 소요 기간 (추정)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3474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광학 시뮬레이션 → DOE 제작 → 현장 삽입 → 균일도 측정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현실적 접근 순서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681728"/>
            <a:ext cx="365760" cy="36576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81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6634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광학 시뮬레이션 (Zemax/VirtualLab): 현 라인 균일도 맵핑 + DOE 스펙 도출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4846320"/>
            <a:ext cx="1828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3337560" y="4681728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681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94760" y="46634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DOE 광학 소자 제작 발주 (Holoor, PowerPhotonic) — 8~12주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53328" y="4846320"/>
            <a:ext cx="1828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4681728"/>
            <a:ext cx="365760" cy="3657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681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0" y="46634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삽입 후 균일도 재측정. ±3% 달성 여부 확인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42248" y="4846320"/>
            <a:ext cx="1828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8915400" y="4681728"/>
            <a:ext cx="365760" cy="3657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15400" y="4681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72600" y="46634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데이터 수집 3개월 → 수율 향상 실측 후 수치 확정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38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SLM 홀로그래픽: 연구 흥미도 높으나 양산 5년+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02336"/>
          </a:xfrm>
          <a:prstGeom prst="rect">
            <a:avLst/>
          </a:prstGeom>
          <a:solidFill>
            <a:srgbClr val="FDECE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1078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⚠  Critic D6 내부 모순: "5kW — 3~5년" vs 반증 증거 "10년+". 5kW 달성은 소재 혁신 선행 필요.  [확신도: 낮음]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5362956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12848"/>
            <a:ext cx="5362956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2257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현황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24912"/>
            <a:ext cx="49834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1.4 kW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834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기록 (Meadowlark Optics, LCoS 기반) — 안정 운용 임계값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593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 kW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35935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Fraunhofer ILT 멀티빔 플랫폼 — 연구소 환경 데모 수준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3525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~1 kW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435254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응용 실측 안정 운용 범위 — 현실적 상한선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1114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완전 유연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51114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패턴 실시간 재프로그래밍 — 이론적 최대 유연성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77356" y="2212848"/>
            <a:ext cx="5362956" cy="3749040"/>
          </a:xfrm>
          <a:prstGeom prst="roundRect">
            <a:avLst>
              <a:gd name="adj" fmla="val 2439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7356" y="2212848"/>
            <a:ext cx="5362956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322576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병목 &amp; 권고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2724912"/>
            <a:ext cx="498348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2834640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8803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kW 달성: 액정 소재 내열성 근본 한계 — 소재 혁신 없이 불가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3593592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63931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고출력 시 위상 안정성 급격 저하 — 열렌즈 효과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4352544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39826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LILE 마스크리스 비전 (FMM 제거) — 장기 R&amp;D, 즉시 연결 불가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5111496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1572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권고: 선행연구(논문 추적 + 소재 동향)만 유지. 대규모 즉시 투자 금지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38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어플리케이션 확장: 이종금속 + 글라스 + LILE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3529584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78308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높음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 (Cu-Al)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3200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79192"/>
            <a:ext cx="3200400" cy="30815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코어:링으로 IMC 두께 제어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Coherent ARM Cu-Al 용접 스패터 90%+ 감소 — 양산 실증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코어:링 비율 최적화 = 열구배 제어 = IMC 층 억제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EV 배터리 탭 용접 직접 적용 가능 — 즉시 도입 대상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169164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691640"/>
            <a:ext cx="3529584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5312" y="178308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중간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2130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글라스 커팅 / 표면처리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62272" y="2578608"/>
            <a:ext cx="3200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62272" y="2679192"/>
            <a:ext cx="3200400" cy="30815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베셀빔 DOE + 적응형 광학 조합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베셀빔 비회절 특성 → 두꺼운 글라스 단면 품질 개선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마이크로크랙 30~50% 감소 추정 [중간 — 조건부 타당]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적응형 광학으로 초점 심도 동적 조정 — 굴곡면 대응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권고: 현 라인 데이터 측정 후 DOE 스펙 설계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169164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1691640"/>
            <a:ext cx="352958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56064" y="178308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 w="127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낮음 / 장기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93024" y="2130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LILE (레이저 유도 분리)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93024" y="2578608"/>
            <a:ext cx="3200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193024" y="2679192"/>
            <a:ext cx="3200400" cy="30815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SLM 마스크리스 → FMM 제거 비전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LILE + SLM = FMM 없이 픽셀 패터닝 단일 공정 이론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현재 SLM 출력 제약 (~1 kW)으로 LILE 요구 에너지 미달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잉크젯 OLED와 경쟁 — 전환 시 레이저 수요 자체 감소 리스크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권고: 3~5년 선행연구. 잉크젯 진행 속도 모니터링 병행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38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645920"/>
            <a:ext cx="6153912" cy="13716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세정: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Selective 제거 기술의 직접 확장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0" y="3200400"/>
            <a:ext cx="6153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Selective 제거 역량이 세정에 직결되는 이유: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광흡수율 차이 원리 — 소재 경계에서의 선택적 에너지 전달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4389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4A7BF7"/>
          </a:solidFill>
          <a:ln w="127">
            <a:solidFill>
              <a:srgbClr val="4A7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4389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전처리 세정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4389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4389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후처리 세정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4389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43891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표면 활성화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세정 4가지 원리와 적용 영역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53263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801368"/>
            <a:ext cx="4494276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열적 절삭 (Thermal Ablation)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499719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78024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산화물 / 도장 제거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고에너지 펄스 → 오염층 급속 가열 → 기화 제거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Selective 제거와 동일 원리: 기재-오염물 흡수율 차이 활용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철강/Al 산화물, 용접 전 스케일 제거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7356" y="1691640"/>
            <a:ext cx="536295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5644" y="1691640"/>
            <a:ext cx="5326380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4516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08876" y="1801368"/>
            <a:ext cx="4494276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광화학 분해 (Photochemical)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60236" y="2377440"/>
            <a:ext cx="499719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60236" y="2478024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/ 정밀 전자 부품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UV 단파장 → 분자 결합 직접 절단 (열 최소화)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nm 레벨 정밀 제거 — 기재 손상 최소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웨이퍼 표면, PCB 잔류 플럭스, OLED 계면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36295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114800"/>
            <a:ext cx="532638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4224528"/>
            <a:ext cx="4494276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충격파 제거 (Laser Shock)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499719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01184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 파티클 / 웨이퍼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 팽창 → 충격파 → 파티클 분리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비접촉 — 수 µm 이하 미세 파티클 제거 가능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반도체 웨이퍼, 정밀 광학 부품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7356" y="4114800"/>
            <a:ext cx="536295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5644" y="4114800"/>
            <a:ext cx="53263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4516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08876" y="4224528"/>
            <a:ext cx="4494276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기화 증발 (Dry Steam)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60236" y="4800600"/>
            <a:ext cx="499719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460236" y="4901184"/>
            <a:ext cx="4997196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대면적 / 중공업 세정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연속파 레이저 → 오염물 가열 증발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 면적 고속 처리 — 수중 또는 건식 방식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대형 구조물 녹 제거, 선박 도장 제거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38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세정 vs 경쟁 기술 5종 비교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97710"/>
                <a:gridCol w="1797710"/>
                <a:gridCol w="1797710"/>
                <a:gridCol w="1797710"/>
                <a:gridCol w="179771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/ 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화학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샌드블라스팅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AE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드라이아이스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기재 손상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CAPEX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✓✓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26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 매우 유리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337560" y="6126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유리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6126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 중간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15400" y="6126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불리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11091672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48640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세정: 환경·선택성·기재보호·OPEX 우위 — CAPEX만 단점. 대량 양산 및 정밀 전처리에서 ROI 역전점 빠르게 도달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38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보유 기술과의 5대 결합 시나리오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53263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2836" y="180136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2836" y="1801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즉시 가능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1801368"/>
            <a:ext cx="3150108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Selective 제거 → 세정 직결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212848"/>
            <a:ext cx="499719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95144"/>
            <a:ext cx="4997196" cy="149047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Selective 제거 공정의 광흡수율 제어 원리가 세정에 직접 이전.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추가 없이 파라미터 조정만으로 표면 세정 기능 확장 가능.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진입장벽 최저 — 빠른 PoC.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7356" y="1691640"/>
            <a:ext cx="536295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5644" y="1691640"/>
            <a:ext cx="53263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4516" y="178308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4516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131552" y="180136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8B5CF6"/>
          </a:solidFill>
          <a:ln w="127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31552" y="1801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파일럿 3~5년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44284" y="1801368"/>
            <a:ext cx="3150108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LILE + 세정 + 패터닝 통합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60236" y="2212848"/>
            <a:ext cx="499719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460236" y="2295144"/>
            <a:ext cx="4997196" cy="149047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LILE 공정 전 레이저 세정으로 계면 순도 향상 → LILE 수율 개선.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장기: LILE + 세정 단일 패스 통합 공정.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LILE 자체 성숙도 의존 — 즉시 투자 불가.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114800"/>
            <a:ext cx="3477463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206240"/>
            <a:ext cx="347472" cy="347472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53919" y="42245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53919" y="42245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즉시 가능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568" y="4224528"/>
            <a:ext cx="1301191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 전처리 세정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636008"/>
            <a:ext cx="3148279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718304"/>
            <a:ext cx="3148279" cy="149047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Cu-Al 용접 전 계면 산화물 레이저 세정 → IMC 억제 효과 증대.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Laserax 알루미늄 배터리 세정 양산 실증 있음.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세정 → ARM 용접 → AI 모니터링 3단계 통합 라인의 1단계.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36999" y="411480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55287" y="4114800"/>
            <a:ext cx="3477463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4159" y="4206240"/>
            <a:ext cx="347472" cy="34747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74159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42278" y="42245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2278" y="42245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파일럿 검토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03927" y="4224528"/>
            <a:ext cx="1301191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글라스 표면 활성화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19879" y="4636008"/>
            <a:ext cx="3148279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519879" y="4718304"/>
            <a:ext cx="3148279" cy="149047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글라스 절단 전 표면 세정 + 텍스처링으로 접착력 향상.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용접·봉지 공정 전 세정과 결합 시 수율 연결.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베셀빔 DOE + 세정 순차 공정 검토 대상.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25358" y="411480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43646" y="4114800"/>
            <a:ext cx="3477463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62518" y="4206240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2518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130638" y="422452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30638" y="42245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파일럿 검토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92286" y="4224528"/>
            <a:ext cx="1301191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후처리 잔류물 제거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08238" y="4636008"/>
            <a:ext cx="3148279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8308238" y="4718304"/>
            <a:ext cx="3148279" cy="149047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 후 OLED/기판 계면 잔류 탄화물 레이저 세정 제거.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화학 세정 대체 시 VOC/폐수 제로화.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OLED 계면 손상 리스크 — 에너지 밀도 정밀 제어 필수.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38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세정 + 텍스처링: Alodine 화학처리 대체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62956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1051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Laserax 실증: 45일 염수 시험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4983480" cy="91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774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688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45일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423160" y="2560320"/>
            <a:ext cx="9144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468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세정+텍스처링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9077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알루미늄 배터리 하우징 처리 후 염수 시험 — 부식 제로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023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38일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423160" y="4114800"/>
            <a:ext cx="9144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40233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Alodine 화학처리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446227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조건 — 38일에 파단 발생. 레이저 대비 17% 조기 열화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55778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Laserax 공식 케이스 스터디 (양산 검증)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77356" y="1691640"/>
            <a:ext cx="5362956" cy="4389120"/>
          </a:xfrm>
          <a:prstGeom prst="roundRect">
            <a:avLst>
              <a:gd name="adj" fmla="val 2083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7356" y="1691640"/>
            <a:ext cx="5362956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81051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경제성 비교: 소모품 + 유지비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2258568"/>
            <a:ext cx="4983480" cy="914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23774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소모품 비용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2724912"/>
            <a:ext cx="4983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724912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레이저  $0.02 / m²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46520" y="3429000"/>
            <a:ext cx="4983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42900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샌드블라스팅  $2.50~4.00 / m²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42519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연간 유지비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4599432"/>
            <a:ext cx="4983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599432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레이저  $500~1,000 / 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46520" y="5303520"/>
            <a:ext cx="4983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530352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처리 (Alodine)  $3,000~6,000 / 년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6126480"/>
            <a:ext cx="11091672" cy="38404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6126480"/>
            <a:ext cx="54864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612648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결론: 세정+텍스처링은 Alodine 대비 내부식성 우위 + OPEX 1/5 수준 — EV 배터리 전처리 즉시 도입 대상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38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34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Hype vs Reality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0" y="26517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즉시 가능하고,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3~5년 R&amp;D인가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0" y="3703320"/>
            <a:ext cx="1828800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384048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검증과 양산 사례를 기반으로 투자 판단을 위한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성숙도 × Hype 수준을 교차 분석한다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성숙도 × Hype 매트릭스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X축: Hype 수준 (낮→높)  |  Y축: Reality/양산 검증 (낮→높)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08676" cy="2080260"/>
          </a:xfrm>
          <a:prstGeom prst="rect">
            <a:avLst/>
          </a:prstGeom>
          <a:solidFill>
            <a:srgbClr val="00D4AA">
              <a:alpha val="85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51343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Q2 (낮Hype + 높Reality)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5134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즉시 도입 가능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269748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49057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ARM/AFX 빔 쉐이핑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20040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49057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레이저 세정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370332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11880"/>
            <a:ext cx="49057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모니터링 (감지/경고)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1636" y="1828800"/>
            <a:ext cx="5408676" cy="20802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8796" y="1920240"/>
            <a:ext cx="51343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Q1 (높Hype + 높Reality)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68796" y="2176272"/>
            <a:ext cx="5134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해당 없음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83380"/>
            <a:ext cx="5408676" cy="208026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74820"/>
            <a:ext cx="51343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Q3 (낮Hype + 낮Reality)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530852"/>
            <a:ext cx="5134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해당 없음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1636" y="4183380"/>
            <a:ext cx="5408676" cy="2080260"/>
          </a:xfrm>
          <a:prstGeom prst="rect">
            <a:avLst/>
          </a:prstGeom>
          <a:solidFill>
            <a:srgbClr val="FF6B6B">
              <a:alpha val="88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8796" y="4274820"/>
            <a:ext cx="51343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Q4 (높Hype + 낮Reality)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68796" y="4530852"/>
            <a:ext cx="51343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Hype 경계 — 3~5년 R&amp;D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96228" y="505206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6597396" y="4960620"/>
            <a:ext cx="49057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자율 폐루프 제어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96228" y="555498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5463540"/>
            <a:ext cx="49057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SLM 홀로그래픽 양산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3387852"/>
            <a:ext cx="7068312" cy="960120"/>
          </a:xfrm>
          <a:prstGeom prst="rect">
            <a:avLst/>
          </a:prstGeom>
          <a:solidFill>
            <a:srgbClr val="FFB020">
              <a:alpha val="85000"/>
            </a:srgbClr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4335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영역 — 파일럿 단계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97480" y="3707892"/>
            <a:ext cx="6611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세정+텍스처링  /  DOE LLO 균일화  /  반도체급 세정  /  적응형 광학(변형거울)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57316" y="1828800"/>
            <a:ext cx="274320" cy="4434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909060"/>
            <a:ext cx="1109167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35508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← 낮음  |  Hype 수준  |  높음 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1828800"/>
            <a:ext cx="502920" cy="4434840"/>
          </a:xfrm>
          <a:prstGeom prst="rect">
            <a:avLst/>
          </a:prstGeom>
          <a:noFill/>
          <a:ln/>
        </p:spPr>
        <p:txBody>
          <a:bodyPr wrap="square" rtlCol="0" anchor="ctr" vert="eaVer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Reality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양산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검증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38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확신도 교정 테이블: Critic 검증 결과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Researcher 초안 → Critic 검토 → 교정 확신도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572000"/>
        </p:xfrm>
        <a:graphic>
          <a:graphicData uri="http://schemas.openxmlformats.org/drawingml/2006/table">
            <a:tbl>
              <a:tblPr/>
              <a:tblGrid>
                <a:gridCol w="5943600"/>
                <a:gridCol w="2560320"/>
                <a:gridCol w="2587752"/>
              </a:tblGrid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수치 /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원래 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교정 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AI 탄화율 감소 (50~70%)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수율 향상 (5~15%p)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SLM 5kW 달성 (3~5년)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홀로그래픽 처리량 5~8배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낮음~중간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세정 시장 CAGR (10~12%)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낮음~중간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자율 폐루프 — 근시일 내 양산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명시 안 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0080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* 확신도 기준: 매우 낮음(양산 근거 없음) / 낮음(출처 미검증) / 낮음~중간(간접 근거) / 중간(파일럿 수준) / 높음(양산 실증)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38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IMC 제어: 3가지 접근법 우선순위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Cu-Al 이종금속 용접 — 인터메탈릭 화합물(IMC) 억제 전략 비교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2843784"/>
                <a:gridCol w="2843784"/>
                <a:gridCol w="2843784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ARM 빔 쉐이핑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용접 전 레이저 세정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분광 모니터링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효과 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 (장비 도입)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중소 (시스템 추가)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 (센서+AI 개발)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도입 시기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6개월 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Coherent ARM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(EV 배터리 실증)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Laserax / Trumpf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(양산 사례)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IMC 전용 사례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(일반 용접 모니터링만)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760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권고 시퀀스: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57607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레이저 세정 (즉시)  →  ② ARM 빔 쉐이핑 (즉시)  →  ③ AI 분광 모니터링 (6개월 후, 데이터 확보 후)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38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34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검증된 성과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0" y="2651760"/>
            <a:ext cx="6153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양산 사례와 정량 효과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0" y="3291840"/>
            <a:ext cx="182880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34290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Hype 영역을 걷어내고 남은 것 —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양산 라인에서 검증된 수치와 사례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검증 수치 3개 — 양산 라인 실증 데이터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92424" cy="4023360"/>
          </a:xfrm>
          <a:prstGeom prst="rect">
            <a:avLst/>
          </a:prstGeom>
          <a:solidFill>
            <a:srgbClr val="F7F9FC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392424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90%+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스패터 감소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284378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30266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Coherent ARM — Cu-Al 이종금속 EV 탭 용접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[확신도: 높음 — 양산 실증]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5384" y="1828800"/>
            <a:ext cx="3392424" cy="4023360"/>
          </a:xfrm>
          <a:prstGeom prst="rect">
            <a:avLst/>
          </a:prstGeom>
          <a:solidFill>
            <a:srgbClr val="F7F9FC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15384" y="1828800"/>
            <a:ext cx="3392424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398264" y="201168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65%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398264" y="32004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기공 편차 감소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9704" y="3657600"/>
            <a:ext cx="284378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398264" y="3749040"/>
            <a:ext cx="30266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CIRP 2024 — ML 기반 파워 제어 적용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기공 크기 12% 감소 + 편차 65% 감소 [확신도: 높음]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82128" y="1828800"/>
            <a:ext cx="3392424" cy="4023360"/>
          </a:xfrm>
          <a:prstGeom prst="rect">
            <a:avLst/>
          </a:prstGeom>
          <a:solidFill>
            <a:srgbClr val="F7F9FC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82128" y="1828800"/>
            <a:ext cx="3392424" cy="7315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065008" y="2011680"/>
            <a:ext cx="3026664" cy="10972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1대 = 4대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065008" y="32004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장비 효율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56448" y="3657600"/>
            <a:ext cx="284378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3749040"/>
            <a:ext cx="30266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nLIGHT AFX — EOS LPBF 4개사 채택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1대로 기존 4가지 레이저 모드 대체 + 3배 속도 향상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38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양산 검증 사례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생산 라인에서 검증된 기업별 핵심 성과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502152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기업 / 솔루션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성과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Precitec LWM AI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Audi 배터리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(24/7 연속 생산)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OK / NOK 자동 판정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불량 즉시 검출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Coherent ARM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탭 Cu-Al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IMC 층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스패터 90%+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nLIGHT AFX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LPBF 금속 적층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(EOS / DMG Mori 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1대 = 4가지 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3× 처리 속도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Laserax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하우징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세정 + 텍스처링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Alodine 화학처리 대체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45일 염수시험 무결함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Trumpf BrightLine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 합금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(자동차 차체)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스패터 95%+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용접 품질 안정화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38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비즈니스 모델 전환 가능성: HeSaaS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Hardware + embedded Software as a Service — 4가지 전환 벡터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201168" cy="2011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32004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일회 판매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3200400" cy="457200"/>
          </a:xfrm>
          <a:prstGeom prst="rect">
            <a:avLst/>
          </a:prstGeom>
          <a:solidFill>
            <a:srgbClr val="4A7BF7"/>
          </a:solidFill>
          <a:ln w="127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솔루션 구독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182880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파라미터 자동 최적화 + 원격 진단 → 반복 수익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201168" cy="2011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017520"/>
            <a:ext cx="32004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공정별 전용 장비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3200400" cy="457200"/>
          </a:xfrm>
          <a:prstGeom prst="rect">
            <a:avLst/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범용 플랫폼 (AFX/ARM)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01752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프로파일 전환으로 1대가 다공정 커버 → 고객 ROI 향상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201168" cy="20116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06240"/>
            <a:ext cx="32004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화학 전처리 외주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00600" y="4206240"/>
            <a:ext cx="3200400" cy="457200"/>
          </a:xfrm>
          <a:prstGeom prst="rect">
            <a:avLst/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인라인 레이저 세정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0" y="420624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Alodine 제거 → CAPEX 포함 통합 공급 → 장기 OPEX 절감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504688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" y="5394960"/>
            <a:ext cx="32004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394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 수동 설정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5394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00600" y="5394960"/>
            <a:ext cx="3200400" cy="457200"/>
          </a:xfrm>
          <a:prstGeom prst="rect">
            <a:avLst/>
          </a:prstGeom>
          <a:solidFill>
            <a:srgbClr val="8B5CF6"/>
          </a:solidFill>
          <a:ln w="127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5394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자동 최적화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539496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센서+AI로 품질 보증 자동화 → 인건비·부적합 비용 절감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91672" cy="25603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6446520"/>
            <a:ext cx="10954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580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⚠  주의: HeSaaS 전환은 B2B 레이저 시장 특성상 고객의 공정 데이터 공유 의향 미검증 — 비즈니스 모델 전환 전 검증 필요 [Critic 지적]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38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R&amp;D 투자 로드맵: 3단계 시퀀스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기반 → 이종금속 통합 파일럿 → 확장 + IP 확보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7315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383280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3383280" cy="43891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  0 ~ 6개월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기반 구축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99232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26080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인프라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(고속카메라 + 포토다이오드)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767328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파이프라인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(수집 → 레이블링 → 저장)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681728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608576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ARM/AFX 파이버 레이저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1대 도입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522976"/>
            <a:ext cx="109728" cy="10972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449824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세정 시스템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(500W급)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15384" y="2148840"/>
            <a:ext cx="338328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Shape 18"/>
          <p:cNvSpPr/>
          <p:nvPr/>
        </p:nvSpPr>
        <p:spPr>
          <a:xfrm>
            <a:off x="4215384" y="1645920"/>
            <a:ext cx="3383280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306824" y="16459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2  6 ~ 12개월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06824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 통합 파일럿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15384" y="2816352"/>
            <a:ext cx="33832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52544" y="2999232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4562856" y="2926080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세정 → ARM 용접 → AI 검사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라인 파일럿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384048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4562856" y="3767328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Precitec LWM AI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도입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52544" y="468172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4562856" y="4608576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ARM 파라미터 최적화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(Cu-Al IMC 최소화)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52544" y="552297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4562856" y="5449824"/>
            <a:ext cx="289864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DOE LLO 균일화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 착수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82128" y="2148840"/>
            <a:ext cx="3758184" cy="7315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3" name="Shape 31"/>
          <p:cNvSpPr/>
          <p:nvPr/>
        </p:nvSpPr>
        <p:spPr>
          <a:xfrm>
            <a:off x="7882128" y="1645920"/>
            <a:ext cx="3758184" cy="43891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4" name="Text 32"/>
          <p:cNvSpPr/>
          <p:nvPr/>
        </p:nvSpPr>
        <p:spPr>
          <a:xfrm>
            <a:off x="7973568" y="1645920"/>
            <a:ext cx="35753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3  12 ~ 36개월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73568" y="228600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+ IP 확보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82128" y="2816352"/>
            <a:ext cx="37581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19288" y="2999232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2926080"/>
            <a:ext cx="32735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폐루프 파일럿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(데이터 확보 후)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19288" y="3840480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3767328"/>
            <a:ext cx="32735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DOE LLO 양산 적용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세정+텍스처링 통합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9288" y="4681728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608576"/>
            <a:ext cx="32735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 공정 특허 3건+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(세정×ARM×AI)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19288" y="5522976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5449824"/>
            <a:ext cx="32735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SLM 홀로그래픽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연구 착수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38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병목 × 해결 경로 테이블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성숙보다 병목 해소가 먼저다 — 6가지 핵심 제약과 대응 경로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572000"/>
        </p:xfrm>
        <a:graphic>
          <a:graphicData uri="http://schemas.openxmlformats.org/drawingml/2006/table">
            <a:tbl>
              <a:tblPr/>
              <a:tblGrid>
                <a:gridCol w="3657600"/>
                <a:gridCol w="4846320"/>
                <a:gridCol w="2587752"/>
              </a:tblGrid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병목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해결 경로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해소 시점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학습 데이터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(공정 특화 데이터 없음)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데이터 파이프라인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GAN 합성 데이터 보완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6~12개월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SLM 소자 내열성 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(~1.4kW 실용 한계)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차세대 내열 LCoS 소재 혁신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(Meadowlark / Fraunhofer ILT 연구 중)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3~5년+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대역 동적 빔 쉐이핑 소자 부재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(SLM의 UV 파장 제한)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DOE 고정 패턴으로 보완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UV 전용 적응형 광학 연구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3~5년+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세정 장비 CAPEX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($20K~200K 초기 부담)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하락 추세 지속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(중국산 세정 레이저 경쟁)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자연 해소 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IATF / 항공우주 AI 인증 부재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(AI 판단의 법적 책임 미정립)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ISO/IEC 42001 AI 경영시스템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산업별 표준화 참여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2~3년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 전문 인력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(레이저+AI 융합 인력 희소)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대학 연구실 협력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핵심 인재 외부 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지속적 과제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38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회사 관점 R&amp;D 권고안: 4가지 액션 레벨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즉시 착수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이종금속 용접 통합 PoC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(세정 → ARM → AI 검사)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DOE LLO 균일화 시뮬레이션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공통 데이터 파이프라인 구축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파일럿 확장 (6~18개월)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폐루프 제어 파일럿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(데이터 확보 후 단계 진입)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세정+텍스처링 양산 적용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DOE LLO 현장 적용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중기 R&amp;D (18~36개월)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플랫폼 v1.0 구축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SLM 홀로그래픽 선행 연구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결합 공정 특허 3건 이상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(세정 × ARM × AI 통합)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하지 말 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SLM 대규모 즉시 투자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(소재 한계 미해결)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자율 마케팅 선행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(양산 사례 없음)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세 기술 독립 R&amp;D팀 운영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(공통 기반 낭비)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188720"/>
            <a:ext cx="18288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3가지 기술, 1개의 통합 전략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데이터가 해자(moat)다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0360152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3017520"/>
            <a:ext cx="8759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공통 기반 먼저 → 전용 응용 나중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3419856"/>
            <a:ext cx="8759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센서·데이터·광학 역량을 먼저 구축하면 AI / 빔 쉐이핑 / 세정 응용 확장이 효율적이다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4069080"/>
            <a:ext cx="8759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 통합 라인으로 3가지 기술 동시 검증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4471416"/>
            <a:ext cx="8759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세정(전처리) → ARM(용접) → AI(검사) 단일 라인 = 가장 높은 ROI 검증 경로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5120640"/>
            <a:ext cx="8759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축적 = 선발주자 우위 + 중국 경쟁 대비 차별화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5522976"/>
            <a:ext cx="8759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데이터를 먼저 모은 기업이 AI 모델 성능에서 앞서고, 소프트웨어/노하우 기반 차별화가 가능하다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5989320"/>
            <a:ext cx="10360152" cy="5943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989320"/>
            <a:ext cx="10085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CTA: Phase 1 공통 기반 구축 착수 승인 요청 — 센서 인프라 + 데이터 파이프라인 + ARM 평가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2026-03-26T00:02:27Z</dcterms:created>
  <dcterms:modified xsi:type="dcterms:W3CDTF">2026-03-26T00:02:27Z</dcterms:modified>
</cp:coreProperties>
</file>